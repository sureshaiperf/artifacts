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9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10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81" r:id="rId7"/>
    <p:sldMasterId id="2147483790" r:id="rId8"/>
    <p:sldMasterId id="2147483851" r:id="rId9"/>
    <p:sldMasterId id="2147483868" r:id="rId10"/>
    <p:sldMasterId id="2147483874" r:id="rId11"/>
    <p:sldMasterId id="2147483889" r:id="rId12"/>
    <p:sldMasterId id="2147483904" r:id="rId13"/>
    <p:sldMasterId id="2147483919" r:id="rId14"/>
  </p:sldMasterIdLst>
  <p:notesMasterIdLst>
    <p:notesMasterId r:id="rId28"/>
  </p:notesMasterIdLst>
  <p:sldIdLst>
    <p:sldId id="663" r:id="rId15"/>
    <p:sldId id="633" r:id="rId16"/>
    <p:sldId id="690" r:id="rId17"/>
    <p:sldId id="694" r:id="rId18"/>
    <p:sldId id="703" r:id="rId19"/>
    <p:sldId id="692" r:id="rId20"/>
    <p:sldId id="707" r:id="rId21"/>
    <p:sldId id="708" r:id="rId22"/>
    <p:sldId id="693" r:id="rId23"/>
    <p:sldId id="704" r:id="rId24"/>
    <p:sldId id="698" r:id="rId25"/>
    <p:sldId id="701" r:id="rId26"/>
    <p:sldId id="702" r:id="rId27"/>
  </p:sldIdLst>
  <p:sldSz cx="12023725" cy="6943725"/>
  <p:notesSz cx="6858000" cy="9144000"/>
  <p:defaultTextStyle>
    <a:defPPr>
      <a:defRPr lang="en-US"/>
    </a:defPPr>
    <a:lvl1pPr marL="0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1pPr>
    <a:lvl2pPr marL="606835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2pPr>
    <a:lvl3pPr marL="1213670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3pPr>
    <a:lvl4pPr marL="1820505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4pPr>
    <a:lvl5pPr marL="2427341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5pPr>
    <a:lvl6pPr marL="3034177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6pPr>
    <a:lvl7pPr marL="3641012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7pPr>
    <a:lvl8pPr marL="4247847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8pPr>
    <a:lvl9pPr marL="4854681" algn="l" defTabSz="1213670" rtl="0" eaLnBrk="1" latinLnBrk="0" hangingPunct="1">
      <a:defRPr sz="23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7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ivani Sugandha" initials="SS" lastIdx="3" clrIdx="0"/>
  <p:cmAuthor id="1" name="Abdul Khadar Jilani Shaik" initials="AKJS" lastIdx="1" clrIdx="1">
    <p:extLst>
      <p:ext uri="{19B8F6BF-5375-455C-9EA6-DF929625EA0E}">
        <p15:presenceInfo xmlns:p15="http://schemas.microsoft.com/office/powerpoint/2012/main" userId="S::E005191@cigniti.com::189c40c9-2fd1-4014-96ec-30474358fef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87"/>
    <a:srgbClr val="F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9642" autoAdjust="0"/>
  </p:normalViewPr>
  <p:slideViewPr>
    <p:cSldViewPr showGuides="1">
      <p:cViewPr varScale="1">
        <p:scale>
          <a:sx n="81" d="100"/>
          <a:sy n="81" d="100"/>
        </p:scale>
        <p:origin x="730" y="48"/>
      </p:cViewPr>
      <p:guideLst>
        <p:guide orient="horz" pos="2188"/>
        <p:guide pos="37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4" d="100"/>
          <a:sy n="104" d="100"/>
        </p:scale>
        <p:origin x="-5264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B46C8-1A0C-4A7A-B1D4-C08BB1D7E8BE}" type="datetimeFigureOut">
              <a:rPr lang="en-US" smtClean="0"/>
              <a:pPr/>
              <a:t>5/14/2020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0375" y="685800"/>
            <a:ext cx="59372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40777-88E2-408B-84B1-B3594B68FC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8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1pPr>
    <a:lvl2pPr marL="606835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2pPr>
    <a:lvl3pPr marL="1213670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3pPr>
    <a:lvl4pPr marL="1820505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4pPr>
    <a:lvl5pPr marL="2427341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5pPr>
    <a:lvl6pPr marL="3034177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6pPr>
    <a:lvl7pPr marL="3641012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7pPr>
    <a:lvl8pPr marL="4247847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8pPr>
    <a:lvl9pPr marL="4854681" algn="l" defTabSz="1213670" rtl="0" eaLnBrk="1" latinLnBrk="0" hangingPunct="1">
      <a:defRPr sz="159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0375" y="685800"/>
            <a:ext cx="59372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740777-88E2-408B-84B1-B3594B68FC41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0375" y="685800"/>
            <a:ext cx="59372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740777-88E2-408B-84B1-B3594B68FC4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/>
              <a:pPr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574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551AA969-6D94-4E5C-9473-FC6E65A4E0B0}" type="datetimeFigureOut">
              <a:rPr lang="en-US">
                <a:ea typeface="MS PGothic" pitchFamily="34" charset="-128"/>
              </a:rPr>
              <a:pPr>
                <a:defRPr/>
              </a:pPr>
              <a:t>5/14/2020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 dirty="0"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54F41D2A-88C0-4192-A0C7-37D23BF6B320}" type="slidenum">
              <a:rPr lang="en-US">
                <a:ea typeface="MS PGothic" pitchFamily="34" charset="-128"/>
              </a:rPr>
              <a:pPr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183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92" y="4461986"/>
            <a:ext cx="10220166" cy="138017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792" y="2942513"/>
            <a:ext cx="10220166" cy="1519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187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061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7" y="1553766"/>
            <a:ext cx="5312567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87" y="2203136"/>
            <a:ext cx="5312567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7888" y="1553766"/>
            <a:ext cx="5314653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7888" y="2203136"/>
            <a:ext cx="5314653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9" y="276466"/>
            <a:ext cx="3955723" cy="117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943" y="276465"/>
            <a:ext cx="6721596" cy="592574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89" y="1453041"/>
            <a:ext cx="3955723" cy="4749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735" y="4860607"/>
            <a:ext cx="7214235" cy="57435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6735" y="621507"/>
            <a:ext cx="7214235" cy="4166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735" y="5434965"/>
            <a:ext cx="7214235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7200" y="278606"/>
            <a:ext cx="2705339" cy="59235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7" y="278606"/>
            <a:ext cx="7915619" cy="59235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542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1103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92" y="4461986"/>
            <a:ext cx="10220166" cy="138017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792" y="2942513"/>
            <a:ext cx="10220166" cy="1519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2047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187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061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591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7" y="1553766"/>
            <a:ext cx="5312567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87" y="2203136"/>
            <a:ext cx="5312567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7888" y="1553766"/>
            <a:ext cx="5314653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7888" y="2203136"/>
            <a:ext cx="5314653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34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73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3052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9" y="276466"/>
            <a:ext cx="3955723" cy="117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943" y="276465"/>
            <a:ext cx="6721596" cy="592574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89" y="1453041"/>
            <a:ext cx="3955723" cy="4749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2643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735" y="4860607"/>
            <a:ext cx="7214235" cy="57435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6735" y="621507"/>
            <a:ext cx="7214235" cy="4166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735" y="5434965"/>
            <a:ext cx="7214235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56185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6123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7200" y="278606"/>
            <a:ext cx="2705339" cy="59235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7" y="278606"/>
            <a:ext cx="7915619" cy="59235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  <a:latin typeface="Calibri"/>
              </a:rPr>
              <a:pPr/>
              <a:t>5/14/2020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462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igniti.com/images/slide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8703"/>
            <a:ext cx="12023725" cy="5912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0" y="6763703"/>
            <a:ext cx="12023725" cy="205740"/>
          </a:xfrm>
          <a:prstGeom prst="rect">
            <a:avLst/>
          </a:prstGeom>
          <a:solidFill>
            <a:srgbClr val="004B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FFFFFF"/>
              </a:solidFill>
              <a:ea typeface="ＭＳ Ｐゴシック" charset="0"/>
              <a:cs typeface="Arial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 userDrawn="1"/>
        </p:nvSpPr>
        <p:spPr bwMode="auto">
          <a:xfrm>
            <a:off x="131512" y="1105853"/>
            <a:ext cx="4878376" cy="473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  <a:buClr>
                <a:srgbClr val="FF8200"/>
              </a:buClr>
              <a:buSzPct val="100000"/>
              <a:buFont typeface="Arial" charset="0"/>
              <a:buChar char="»"/>
              <a:defRPr/>
            </a:pPr>
            <a:endParaRPr lang="en-US" sz="2000" dirty="0">
              <a:solidFill>
                <a:srgbClr val="004B87"/>
              </a:solidFill>
              <a:latin typeface="Calibri" pitchFamily="34" charset="0"/>
              <a:ea typeface="ＭＳ Ｐゴシック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" y="4410554"/>
            <a:ext cx="12036249" cy="255889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" y="4706305"/>
            <a:ext cx="12036249" cy="204454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719179" y="77152"/>
            <a:ext cx="2104152" cy="925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white"/>
              </a:solidFill>
            </a:endParaRPr>
          </a:p>
        </p:txBody>
      </p:sp>
      <p:pic>
        <p:nvPicPr>
          <p:cNvPr id="10" name="Picture 12" descr="cigniti-200x75.jp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011" y="210027"/>
            <a:ext cx="1793121" cy="690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225445" y="285036"/>
            <a:ext cx="4160306" cy="46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390" dirty="0">
                <a:solidFill>
                  <a:srgbClr val="D9D9D9"/>
                </a:solidFill>
                <a:latin typeface="Calibri" pitchFamily="34" charset="0"/>
                <a:ea typeface="ＭＳ Ｐゴシック" charset="0"/>
              </a:rPr>
              <a:t>SOFTWARE QUALITY | ASSURED</a:t>
            </a:r>
          </a:p>
        </p:txBody>
      </p: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976928" y="4393352"/>
            <a:ext cx="10220166" cy="1487329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8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740935" y="5644994"/>
            <a:ext cx="8416608" cy="5014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4379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2"/>
          <p:cNvCxnSpPr/>
          <p:nvPr userDrawn="1"/>
        </p:nvCxnSpPr>
        <p:spPr>
          <a:xfrm flipV="1">
            <a:off x="-12522" y="527211"/>
            <a:ext cx="12036249" cy="278606"/>
          </a:xfrm>
          <a:prstGeom prst="bentConnector3">
            <a:avLst>
              <a:gd name="adj1" fmla="val 96861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 userDrawn="1"/>
        </p:nvSpPr>
        <p:spPr>
          <a:xfrm>
            <a:off x="11510214" y="630080"/>
            <a:ext cx="288068" cy="2957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6" name="Oval 5"/>
          <p:cNvSpPr/>
          <p:nvPr userDrawn="1"/>
        </p:nvSpPr>
        <p:spPr>
          <a:xfrm>
            <a:off x="11848382" y="462917"/>
            <a:ext cx="162821" cy="1671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white"/>
              </a:solidFill>
            </a:endParaRPr>
          </a:p>
        </p:txBody>
      </p:sp>
      <p:pic>
        <p:nvPicPr>
          <p:cNvPr id="7" name="Picture 9" descr="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84" y="6268643"/>
            <a:ext cx="1502966" cy="5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gradiant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845142"/>
            <a:ext cx="1910019" cy="102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 descr="gradiant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559" y="6639401"/>
            <a:ext cx="10220166" cy="30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2"/>
          <p:cNvSpPr>
            <a:spLocks noChangeArrowheads="1"/>
          </p:cNvSpPr>
          <p:nvPr userDrawn="1"/>
        </p:nvSpPr>
        <p:spPr bwMode="auto">
          <a:xfrm>
            <a:off x="1803560" y="6632973"/>
            <a:ext cx="99195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prstClr val="white"/>
                </a:solidFill>
                <a:ea typeface="ＭＳ Ｐゴシック" charset="0"/>
                <a:cs typeface="Arial" charset="0"/>
              </a:rPr>
              <a:t>Dallas  |  Hyderabad |  Atlanta  |  San Jose  |  Des Moines  |  London |  Bogota  |  www.cigniti.com  |  Unsolicited Distribution is Restricted. Copyright © 2012, Cigniti Technologies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11522737" y="6557966"/>
            <a:ext cx="500988" cy="492918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3EBB4897-CCAF-8A4B-A6B8-569CF04568CA}" type="slidenum">
              <a:rPr lang="en-US" sz="900" smtClean="0">
                <a:solidFill>
                  <a:prstClr val="white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00396" y="0"/>
            <a:ext cx="10821353" cy="822960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FF8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75544" y="1050134"/>
            <a:ext cx="10821353" cy="4582001"/>
          </a:xfrm>
        </p:spPr>
        <p:txBody>
          <a:bodyPr/>
          <a:lstStyle>
            <a:lvl1pPr>
              <a:buClr>
                <a:srgbClr val="E56E14"/>
              </a:buClr>
              <a:buFont typeface="Calibri" pitchFamily="34" charset="0"/>
              <a:buChar char="»"/>
              <a:defRPr/>
            </a:lvl1pPr>
            <a:lvl2pPr>
              <a:buClr>
                <a:srgbClr val="E56E14"/>
              </a:buClr>
              <a:buFont typeface="Arial" pitchFamily="34" charset="0"/>
              <a:buChar char="»"/>
              <a:defRPr/>
            </a:lvl2pPr>
            <a:lvl3pPr>
              <a:buClr>
                <a:srgbClr val="E56E14"/>
              </a:buClr>
              <a:buFont typeface="Calibri" pitchFamily="34" charset="0"/>
              <a:buChar char="»"/>
              <a:defRPr/>
            </a:lvl3pPr>
            <a:lvl4pPr>
              <a:buClr>
                <a:srgbClr val="E56E14"/>
              </a:buClr>
              <a:defRPr/>
            </a:lvl4pPr>
            <a:lvl5pPr>
              <a:buClr>
                <a:srgbClr val="E56E14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522737" y="6557966"/>
            <a:ext cx="500988" cy="492918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charset="0"/>
              </a:defRPr>
            </a:lvl1pPr>
          </a:lstStyle>
          <a:p>
            <a:fld id="{D77EED8C-5BBF-6643-817D-3400BAC750FF}" type="slidenum">
              <a:rPr lang="en-US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3053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D790981-5222-014C-A596-C2A53BFF8F3E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B486980-BB62-BE40-9B76-C6092D4AC64A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4352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4FF950-CDB5-BF43-A5AB-60D6EE687FA2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EA8B75-DBBA-0346-B8F4-BC845CCB5B6B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281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92" y="4461986"/>
            <a:ext cx="10220166" cy="138017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792" y="2942513"/>
            <a:ext cx="10220166" cy="1519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07D484-65C8-6944-BA8A-809D75FD142B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BBD975-C0EC-0542-B014-E3E4CC82F165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203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187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061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0750FB-E667-8446-A2F7-89A8AD664649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809EF9-7E84-DD44-9564-4593EF59C08D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69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7" y="1553766"/>
            <a:ext cx="5312567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87" y="2203136"/>
            <a:ext cx="5312567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7888" y="1553766"/>
            <a:ext cx="5314653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7888" y="2203136"/>
            <a:ext cx="5314653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CFAF01-1BF8-4549-92DC-E41B1D367BCF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8D6D8F-6BB7-874C-BA5E-9622AD377943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6190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4D4DC35-5408-7446-81FA-8B069BBFD408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50C6348-52D6-A645-A642-2B84922FD06D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2684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D3DEBF-2FC6-8249-B298-AF04197CBC90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0EABFF-FFE5-8541-9592-BB9FA174F6DC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8295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9" y="276466"/>
            <a:ext cx="3955723" cy="117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943" y="276465"/>
            <a:ext cx="6721596" cy="592574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89" y="1453041"/>
            <a:ext cx="3955723" cy="4749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F8B0C1-15E0-CF4E-A03B-FA50229F26FE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53BD67-5DC5-614B-85AF-E39D0B204412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288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735" y="4860607"/>
            <a:ext cx="7214235" cy="57435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6735" y="621507"/>
            <a:ext cx="7214235" cy="4166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735" y="5434965"/>
            <a:ext cx="7214235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CF4E95-29B4-9942-B957-C694827BDFC5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D17BF2-F2FE-9044-B9BB-89B1457E6AD4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2138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3F0356-270F-1344-B2FE-29168B3FB1D9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03CDA2-7594-A841-A090-598D8AE204E6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7078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7200" y="278606"/>
            <a:ext cx="2705339" cy="59235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7" y="278606"/>
            <a:ext cx="7915619" cy="59235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940C9-CEED-3D47-A37F-BA15F45A6D5B}" type="datetimeFigureOut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D4A0E14-41E7-F14E-AED8-70CF182233DF}" type="slidenum">
              <a:rPr lang="en-US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839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773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455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92" y="4461986"/>
            <a:ext cx="10220166" cy="138017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792" y="2942513"/>
            <a:ext cx="10220166" cy="1519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5415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187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061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3446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7" y="1553766"/>
            <a:ext cx="5312567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87" y="2203136"/>
            <a:ext cx="5312567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7888" y="1553766"/>
            <a:ext cx="5314653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7888" y="2203136"/>
            <a:ext cx="5314653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84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8947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6140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9" y="276466"/>
            <a:ext cx="3955723" cy="117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943" y="276465"/>
            <a:ext cx="6721596" cy="592574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89" y="1453041"/>
            <a:ext cx="3955723" cy="4749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2312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735" y="4860607"/>
            <a:ext cx="7214235" cy="57435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6735" y="621507"/>
            <a:ext cx="7214235" cy="4166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735" y="5434965"/>
            <a:ext cx="7214235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8708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5702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7200" y="278606"/>
            <a:ext cx="2705339" cy="59235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7" y="278606"/>
            <a:ext cx="7915619" cy="59235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629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781" y="2158129"/>
            <a:ext cx="10220166" cy="14873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559" y="3934777"/>
            <a:ext cx="8416608" cy="17745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027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843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92" y="4461986"/>
            <a:ext cx="10220166" cy="138017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792" y="2942513"/>
            <a:ext cx="10220166" cy="1519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2760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187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061" y="1620205"/>
            <a:ext cx="5310478" cy="4582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158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7" y="1553766"/>
            <a:ext cx="5312567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87" y="2203136"/>
            <a:ext cx="5312567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7888" y="1553766"/>
            <a:ext cx="5314653" cy="6493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7888" y="2203136"/>
            <a:ext cx="5314653" cy="39990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6982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442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968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9" y="276466"/>
            <a:ext cx="3955723" cy="117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943" y="276465"/>
            <a:ext cx="6721596" cy="592574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89" y="1453041"/>
            <a:ext cx="3955723" cy="4749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743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735" y="4860607"/>
            <a:ext cx="7214235" cy="57435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6735" y="621507"/>
            <a:ext cx="7214235" cy="4166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735" y="5434965"/>
            <a:ext cx="7214235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8471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86" y="278607"/>
            <a:ext cx="10821353" cy="1157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6" y="1620205"/>
            <a:ext cx="10821353" cy="458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4131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7200" y="278606"/>
            <a:ext cx="2705339" cy="59235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1187" y="278606"/>
            <a:ext cx="7915619" cy="59235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551AA969-6D94-4E5C-9473-FC6E65A4E0B0}" type="datetimeFigureOut">
              <a:rPr lang="en-US" smtClean="0">
                <a:solidFill>
                  <a:prstClr val="black"/>
                </a:solidFill>
              </a:rPr>
              <a:pPr/>
              <a:t>5/14/2020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/>
          <a:lstStyle/>
          <a:p>
            <a:fld id="{97BFFAE2-F656-4DDE-8EDD-50DA2A18773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0203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www.cigniti.com/images/slide1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" y="1029762"/>
            <a:ext cx="12023725" cy="5911809"/>
          </a:xfrm>
          <a:prstGeom prst="rect">
            <a:avLst/>
          </a:prstGeom>
          <a:noFill/>
        </p:spPr>
      </p:pic>
      <p:sp>
        <p:nvSpPr>
          <p:cNvPr id="8" name="Rectangle 2"/>
          <p:cNvSpPr>
            <a:spLocks noChangeArrowheads="1"/>
          </p:cNvSpPr>
          <p:nvPr userDrawn="1"/>
        </p:nvSpPr>
        <p:spPr bwMode="auto">
          <a:xfrm>
            <a:off x="0" y="6763703"/>
            <a:ext cx="12023725" cy="205740"/>
          </a:xfrm>
          <a:prstGeom prst="rect">
            <a:avLst/>
          </a:prstGeom>
          <a:solidFill>
            <a:srgbClr val="004B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 userDrawn="1"/>
        </p:nvSpPr>
        <p:spPr bwMode="auto">
          <a:xfrm>
            <a:off x="131512" y="1105853"/>
            <a:ext cx="4878376" cy="473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700"/>
              </a:spcBef>
              <a:buClr>
                <a:srgbClr val="FF8200"/>
              </a:buClr>
              <a:buSzPct val="100000"/>
              <a:buFont typeface="Arial" pitchFamily="34" charset="0"/>
              <a:buChar char="»"/>
              <a:defRPr/>
            </a:pPr>
            <a:endParaRPr lang="en-US" sz="2000" dirty="0">
              <a:solidFill>
                <a:srgbClr val="004B87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4410554"/>
            <a:ext cx="12036252" cy="255889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4706303"/>
            <a:ext cx="12036252" cy="2044566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9719179" y="77152"/>
            <a:ext cx="2104152" cy="925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white"/>
              </a:solidFill>
            </a:endParaRPr>
          </a:p>
        </p:txBody>
      </p:sp>
      <p:pic>
        <p:nvPicPr>
          <p:cNvPr id="15" name="Picture 9" descr="cigniti-200x7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9929903" y="209717"/>
            <a:ext cx="1793229" cy="69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 userDrawn="1"/>
        </p:nvSpPr>
        <p:spPr>
          <a:xfrm>
            <a:off x="225445" y="285511"/>
            <a:ext cx="4160306" cy="460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" dirty="0">
                <a:solidFill>
                  <a:prstClr val="white">
                    <a:lumMod val="85000"/>
                  </a:prstClr>
                </a:solidFill>
              </a:rPr>
              <a:t>SOFTWARE QUALITY | ASSURED</a:t>
            </a:r>
          </a:p>
        </p:txBody>
      </p: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976928" y="4393352"/>
            <a:ext cx="10220166" cy="1487329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8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740935" y="5644994"/>
            <a:ext cx="8416608" cy="5014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887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2"/>
          <p:cNvCxnSpPr/>
          <p:nvPr userDrawn="1"/>
        </p:nvCxnSpPr>
        <p:spPr>
          <a:xfrm flipV="1">
            <a:off x="-12522" y="527210"/>
            <a:ext cx="12036249" cy="278951"/>
          </a:xfrm>
          <a:prstGeom prst="bentConnector3">
            <a:avLst>
              <a:gd name="adj1" fmla="val 96861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1510214" y="630080"/>
            <a:ext cx="288068" cy="2957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 userDrawn="1"/>
        </p:nvSpPr>
        <p:spPr>
          <a:xfrm>
            <a:off x="11848382" y="462917"/>
            <a:ext cx="162821" cy="1671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00396" y="0"/>
            <a:ext cx="10821353" cy="822960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FF8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75544" y="1050134"/>
            <a:ext cx="10821353" cy="4582001"/>
          </a:xfrm>
        </p:spPr>
        <p:txBody>
          <a:bodyPr/>
          <a:lstStyle>
            <a:lvl1pPr>
              <a:buClr>
                <a:srgbClr val="E56E14"/>
              </a:buClr>
              <a:buFont typeface="Calibri" pitchFamily="34" charset="0"/>
              <a:buChar char="»"/>
              <a:defRPr/>
            </a:lvl1pPr>
            <a:lvl2pPr>
              <a:buClr>
                <a:srgbClr val="E56E14"/>
              </a:buClr>
              <a:buFont typeface="Arial" pitchFamily="34" charset="0"/>
              <a:buChar char="»"/>
              <a:defRPr/>
            </a:lvl2pPr>
            <a:lvl3pPr>
              <a:buClr>
                <a:srgbClr val="E56E14"/>
              </a:buClr>
              <a:buFont typeface="Calibri" pitchFamily="34" charset="0"/>
              <a:buChar char="»"/>
              <a:defRPr/>
            </a:lvl3pPr>
            <a:lvl4pPr>
              <a:buClr>
                <a:srgbClr val="E56E14"/>
              </a:buClr>
              <a:defRPr/>
            </a:lvl4pPr>
            <a:lvl5pPr>
              <a:buClr>
                <a:srgbClr val="E56E14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030" y="6267957"/>
            <a:ext cx="1502966" cy="5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gradiant1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" y="6844456"/>
            <a:ext cx="1910019" cy="10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gradiant2.pn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3559" y="6638716"/>
            <a:ext cx="10220166" cy="308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 userDrawn="1"/>
        </p:nvSpPr>
        <p:spPr>
          <a:xfrm>
            <a:off x="1803560" y="6633567"/>
            <a:ext cx="99195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51">
              <a:defRPr/>
            </a:pPr>
            <a:r>
              <a:rPr lang="en-US" sz="800" dirty="0">
                <a:solidFill>
                  <a:prstClr val="white"/>
                </a:solidFill>
                <a:cs typeface="Arial" pitchFamily="34" charset="0"/>
              </a:rPr>
              <a:t>Dallas  |  Hyderabad |  Atlanta  |  San Jose  |  Des Moines  |  London |  Bogota  |  www.cigniti.com  |  Unsolicited Distribution is Restricted. Copyright © 2012, Cigniti Technologies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522737" y="6557280"/>
            <a:ext cx="500988" cy="492918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AA4811D-B4B2-4B1C-93B6-FEAC140DC2A2}" type="slidenum">
              <a:rPr 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11522737" y="6557966"/>
            <a:ext cx="500988" cy="492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r">
              <a:defRPr/>
            </a:pPr>
            <a:fld id="{AAA4811D-B4B2-4B1C-93B6-FEAC140DC2A2}" type="slidenum">
              <a:rPr lang="en-US" sz="900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 sz="9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40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17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5048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1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53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1186" y="278607"/>
            <a:ext cx="10821353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1186" y="1620205"/>
            <a:ext cx="10821353" cy="458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1187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B13725-958A-0540-8FB5-031340CC3C5C}" type="datetimeFigureOut">
              <a:rPr lang="en-US" smtClean="0"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5/14/2020</a:t>
            </a:fld>
            <a:endParaRPr lang="en-US" dirty="0">
              <a:ea typeface="ＭＳ Ｐゴシック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8106" y="6435808"/>
            <a:ext cx="3807513" cy="370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004" y="6435808"/>
            <a:ext cx="2805535" cy="37075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79E5E7-FDA2-DA4D-8998-D9A66EB1DF17}" type="slidenum">
              <a:rPr lang="en-US" smtClean="0"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79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-25048" y="1"/>
            <a:ext cx="12023725" cy="6943725"/>
          </a:xfrm>
          <a:prstGeom prst="rect">
            <a:avLst/>
          </a:prstGeom>
          <a:gradFill rotWithShape="1">
            <a:gsLst>
              <a:gs pos="0">
                <a:srgbClr val="7F7F7F">
                  <a:alpha val="56000"/>
                </a:srgbClr>
              </a:gs>
              <a:gs pos="47000">
                <a:srgbClr val="BFD5FF">
                  <a:alpha val="76680"/>
                </a:srgbClr>
              </a:gs>
              <a:gs pos="100000">
                <a:srgbClr val="E5EEFF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2390" dirty="0">
              <a:solidFill>
                <a:prstClr val="black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59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9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4046" y="1"/>
            <a:ext cx="12023725" cy="69437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56000"/>
                </a:schemeClr>
              </a:gs>
              <a:gs pos="47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86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186" y="278073"/>
            <a:ext cx="10821353" cy="1157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186" y="1620204"/>
            <a:ext cx="10821353" cy="458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1187" y="6435806"/>
            <a:ext cx="2805535" cy="36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F01B0-587A-45A6-BB2E-FC1C6380B4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5/14/2020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8106" y="6435806"/>
            <a:ext cx="3807513" cy="36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004" y="6435806"/>
            <a:ext cx="2805535" cy="36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1188B-5D35-441D-916E-C8183C035D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2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://apple.stackexchange.com/questions/108952/white-streaks-image-retention-on-the-sides-of-iphone-5s-screen" TargetMode="External"/><Relationship Id="rId7" Type="http://schemas.openxmlformats.org/officeDocument/2006/relationships/hyperlink" Target="https://pixabay.com/en/computer-database-network-server-156948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hyperlink" Target="https://openclipart.org/detail/182736/application-server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pixabay.com/en/firewall-fire-brick-wall-network-146529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openclipart.org/detail/182736/application-server" TargetMode="External"/><Relationship Id="rId7" Type="http://schemas.openxmlformats.org/officeDocument/2006/relationships/hyperlink" Target="https://pixabay.com/en/firewall-fire-brick-wall-network-146529/" TargetMode="External"/><Relationship Id="rId12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png"/><Relationship Id="rId11" Type="http://schemas.openxmlformats.org/officeDocument/2006/relationships/hyperlink" Target="http://apple.stackexchange.com/questions/108952/white-streaks-image-retention-on-the-sides-of-iphone-5s-screen" TargetMode="External"/><Relationship Id="rId5" Type="http://schemas.openxmlformats.org/officeDocument/2006/relationships/hyperlink" Target="https://pixabay.com/en/computer-database-network-server-156948/" TargetMode="Externa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santosh.balasubramani@cigniti.com" TargetMode="External"/><Relationship Id="rId3" Type="http://schemas.openxmlformats.org/officeDocument/2006/relationships/hyperlink" Target="mailto:Alexandra.Finfer@internationalsos.com" TargetMode="External"/><Relationship Id="rId7" Type="http://schemas.openxmlformats.org/officeDocument/2006/relationships/hyperlink" Target="mailto:Ramalakshmana.v@cigniti.com" TargetMode="External"/><Relationship Id="rId2" Type="http://schemas.openxmlformats.org/officeDocument/2006/relationships/hyperlink" Target="mailto:Matthew.Smyth@internationalsos.com" TargetMode="External"/><Relationship Id="rId1" Type="http://schemas.openxmlformats.org/officeDocument/2006/relationships/slideLayout" Target="../slideLayouts/slideLayout28.xml"/><Relationship Id="rId6" Type="http://schemas.openxmlformats.org/officeDocument/2006/relationships/hyperlink" Target="mailto:murali.dudi@cigniti.com" TargetMode="External"/><Relationship Id="rId5" Type="http://schemas.openxmlformats.org/officeDocument/2006/relationships/hyperlink" Target="mailto:Ajaynath.Sunkara@cigniti.com" TargetMode="External"/><Relationship Id="rId10" Type="http://schemas.openxmlformats.org/officeDocument/2006/relationships/hyperlink" Target="mailto:shivaprasad.shapelli@cigniti.com" TargetMode="External"/><Relationship Id="rId4" Type="http://schemas.openxmlformats.org/officeDocument/2006/relationships/hyperlink" Target="mailto:kote@cigniti.com" TargetMode="External"/><Relationship Id="rId9" Type="http://schemas.openxmlformats.org/officeDocument/2006/relationships/hyperlink" Target="mailto:phaneendra.kavati@cigniti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439861" y="4768006"/>
            <a:ext cx="9144000" cy="58354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8200"/>
                </a:solidFill>
              </a:defRPr>
            </a:lvl1pPr>
          </a:lstStyle>
          <a:p>
            <a:r>
              <a:rPr lang="en-US" sz="3100" dirty="0"/>
              <a:t>Performance Test Strategy – Assistance Ver. 6.0.8</a:t>
            </a: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6EF4A-5559-41AD-9DF2-951B67342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815" y="5351546"/>
            <a:ext cx="1736093" cy="7794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946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79214" y="231502"/>
            <a:ext cx="8559800" cy="476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charset="0"/>
              </a:rPr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08DB1-0AA3-4AEF-9528-EAFAC33347DF}"/>
              </a:ext>
            </a:extLst>
          </p:cNvPr>
          <p:cNvSpPr/>
          <p:nvPr/>
        </p:nvSpPr>
        <p:spPr>
          <a:xfrm>
            <a:off x="1331342" y="1023590"/>
            <a:ext cx="8055744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Objectives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Performance Test Scenarios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Workload Modelling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altLang="en-US" sz="2200" dirty="0">
                <a:solidFill>
                  <a:srgbClr val="002060"/>
                </a:solidFill>
              </a:rPr>
              <a:t>Performance Testing Approach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altLang="en-US" sz="2200" dirty="0">
                <a:solidFill>
                  <a:srgbClr val="002060"/>
                </a:solidFill>
              </a:rPr>
              <a:t>Limitations To Testing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altLang="en-US" sz="2200" dirty="0">
                <a:solidFill>
                  <a:srgbClr val="002060"/>
                </a:solidFill>
              </a:rPr>
              <a:t>Region Wise User Load Distribution</a:t>
            </a:r>
            <a:endParaRPr lang="en-US" altLang="en-US" sz="2200" dirty="0">
              <a:solidFill>
                <a:srgbClr val="002060"/>
              </a:solidFill>
            </a:endParaRP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Performance Test Harness- High Level Architecture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User Load Ramp up Pattern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Test Constraints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2060"/>
                </a:solidFill>
              </a:rPr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0340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1222" y="189022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Objectives</a:t>
            </a:r>
            <a:endParaRPr lang="en-US" sz="2800" dirty="0">
              <a:latin typeface="Calibri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7A5333-0A78-43D6-96A8-84D9CC4D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595813"/>
              </p:ext>
            </p:extLst>
          </p:nvPr>
        </p:nvGraphicFramePr>
        <p:xfrm>
          <a:off x="258350" y="3772665"/>
          <a:ext cx="4536504" cy="196989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4463">
                  <a:extLst>
                    <a:ext uri="{9D8B030D-6E8A-4147-A177-3AD203B41FA5}">
                      <a16:colId xmlns:a16="http://schemas.microsoft.com/office/drawing/2014/main" val="1719944939"/>
                    </a:ext>
                  </a:extLst>
                </a:gridCol>
                <a:gridCol w="3582041">
                  <a:extLst>
                    <a:ext uri="{9D8B030D-6E8A-4147-A177-3AD203B41FA5}">
                      <a16:colId xmlns:a16="http://schemas.microsoft.com/office/drawing/2014/main" val="2207647223"/>
                    </a:ext>
                  </a:extLst>
                </a:gridCol>
              </a:tblGrid>
              <a:tr h="271964"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Metric Name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467794"/>
                  </a:ext>
                </a:extLst>
              </a:tr>
              <a:tr h="242562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Device Level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IN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Application Crash Rate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604575"/>
                  </a:ext>
                </a:extLst>
              </a:tr>
              <a:tr h="2425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IN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Application Response Time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585418"/>
                  </a:ext>
                </a:extLst>
              </a:tr>
              <a:tr h="2425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Application Launch Time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5361"/>
                  </a:ext>
                </a:extLst>
              </a:tr>
              <a:tr h="2425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CPU, Memory &amp; Battery Usage Details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556655"/>
                  </a:ext>
                </a:extLst>
              </a:tr>
              <a:tr h="242562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Server Level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IN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API Response Time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272191"/>
                  </a:ext>
                </a:extLst>
              </a:tr>
              <a:tr h="2425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US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Hardware usage (CPU, Memory, Disk and Network)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192315"/>
                  </a:ext>
                </a:extLst>
              </a:tr>
              <a:tr h="2425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algn="l" fontAlgn="b">
                        <a:spcBef>
                          <a:spcPts val="1200"/>
                        </a:spcBef>
                      </a:pPr>
                      <a:r>
                        <a:rPr lang="en-IN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Http error rate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1487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7BF623-B262-45EA-9CAA-CA125787295C}"/>
              </a:ext>
            </a:extLst>
          </p:cNvPr>
          <p:cNvSpPr txBox="1"/>
          <p:nvPr/>
        </p:nvSpPr>
        <p:spPr>
          <a:xfrm>
            <a:off x="232367" y="853782"/>
            <a:ext cx="11377263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Conduct performance assessment for 6.0.8 and compare the performance metrics with previous results 6.0.4 and highlight if there is any degradation is the responsiveness of the system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Measure system performance at different workloads by conducting below load tests</a:t>
            </a:r>
          </a:p>
          <a:p>
            <a:pPr marL="892585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Load Testing –   200 Users (1 Hour)</a:t>
            </a:r>
          </a:p>
          <a:p>
            <a:pPr marL="892585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Spike Testing –  200-&gt; 400 Users (1 Hour)</a:t>
            </a:r>
          </a:p>
          <a:p>
            <a:pPr marL="892585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Soak Testing – 200 Users (8 Hours)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Determine end user experience of mobile application on real devices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Analyze load test results for both API’s and UI scenarios and report all key findings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Baselining real device hardware usage patterns at different workload conditions (Running app in background, foreground, accessing application etc.)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2060"/>
                </a:solidFill>
              </a:rPr>
              <a:t>Below are the KPI’s through which the application performance is measured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CBCC5-94AE-45EF-BE2D-538FB4ED30D4}"/>
              </a:ext>
            </a:extLst>
          </p:cNvPr>
          <p:cNvSpPr txBox="1"/>
          <p:nvPr/>
        </p:nvSpPr>
        <p:spPr>
          <a:xfrm>
            <a:off x="1763390" y="5776118"/>
            <a:ext cx="9073008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Key Notes: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Google Analytics has been used for finding the peak day and peak hour traffic from the production logs on comparison of past 1 year 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10</a:t>
            </a:r>
            <a:r>
              <a:rPr lang="en-US" sz="1200" baseline="30000" dirty="0"/>
              <a:t>th</a:t>
            </a:r>
            <a:r>
              <a:rPr lang="en-US" sz="1200" dirty="0"/>
              <a:t> Sep 2019 observed to be a peak day and 12 PM of the same day observed to be a peak hour from Google Analytics Data.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AppDynamics has been used for taking the API details for above mentioned peak hour. This peak hour load considered as 1x load.  </a:t>
            </a:r>
            <a:endParaRPr lang="en-IN" sz="1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71F847-141C-434E-BE31-6946C9505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543270"/>
              </p:ext>
            </p:extLst>
          </p:nvPr>
        </p:nvGraphicFramePr>
        <p:xfrm>
          <a:off x="4856041" y="3772666"/>
          <a:ext cx="6753590" cy="1969898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{74C1A8A3-306A-4EB7-A6B1-4F7E0EB9C5D6}</a:tableStyleId>
              </a:tblPr>
              <a:tblGrid>
                <a:gridCol w="3027845">
                  <a:extLst>
                    <a:ext uri="{9D8B030D-6E8A-4147-A177-3AD203B41FA5}">
                      <a16:colId xmlns:a16="http://schemas.microsoft.com/office/drawing/2014/main" val="4241203130"/>
                    </a:ext>
                  </a:extLst>
                </a:gridCol>
                <a:gridCol w="1934521">
                  <a:extLst>
                    <a:ext uri="{9D8B030D-6E8A-4147-A177-3AD203B41FA5}">
                      <a16:colId xmlns:a16="http://schemas.microsoft.com/office/drawing/2014/main" val="3452394328"/>
                    </a:ext>
                  </a:extLst>
                </a:gridCol>
                <a:gridCol w="1791224">
                  <a:extLst>
                    <a:ext uri="{9D8B030D-6E8A-4147-A177-3AD203B41FA5}">
                      <a16:colId xmlns:a16="http://schemas.microsoft.com/office/drawing/2014/main" val="1538389640"/>
                    </a:ext>
                  </a:extLst>
                </a:gridCol>
              </a:tblGrid>
              <a:tr h="5020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KPI (Based on Industry Standards)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Acceptable Threshold Value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Business Inputs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852372"/>
                  </a:ext>
                </a:extLst>
              </a:tr>
              <a:tr h="2196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API Response Time</a:t>
                      </a:r>
                      <a:endParaRPr lang="en-IN" sz="14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&lt; 0.5 sec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j-lt"/>
                          <a:ea typeface="+mn-ea"/>
                        </a:rPr>
                        <a:t>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877736"/>
                  </a:ext>
                </a:extLst>
              </a:tr>
              <a:tr h="2196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+mj-lt"/>
                        </a:rPr>
                        <a:t>App Crash Rate</a:t>
                      </a:r>
                      <a:endParaRPr lang="en-IN" sz="14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1-2%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611957"/>
                  </a:ext>
                </a:extLst>
              </a:tr>
              <a:tr h="196424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+mn-ea"/>
                        </a:rPr>
                        <a:t>Screen/Page loading time</a:t>
                      </a:r>
                      <a:endParaRPr lang="en-IN" sz="14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&lt; 1 Sec Good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516987"/>
                  </a:ext>
                </a:extLst>
              </a:tr>
              <a:tr h="19642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1-3 Sec Slow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033384"/>
                  </a:ext>
                </a:extLst>
              </a:tr>
              <a:tr h="19642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&gt; 3 Sec Slow - Fail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820974"/>
                  </a:ext>
                </a:extLst>
              </a:tr>
              <a:tr h="2196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+mj-lt"/>
                        </a:rPr>
                        <a:t>Touch Response Time</a:t>
                      </a:r>
                      <a:endParaRPr lang="en-IN" sz="14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&lt; = 400 </a:t>
                      </a:r>
                      <a:r>
                        <a:rPr lang="en-IN" sz="1200" dirty="0" err="1">
                          <a:effectLst/>
                          <a:latin typeface="+mj-lt"/>
                        </a:rPr>
                        <a:t>ms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523990"/>
                  </a:ext>
                </a:extLst>
              </a:tr>
              <a:tr h="2196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+mj-lt"/>
                        </a:rPr>
                        <a:t>App Launch Time </a:t>
                      </a:r>
                      <a:endParaRPr lang="en-IN" sz="14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&lt; 2 Sec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j-lt"/>
                        </a:rPr>
                        <a:t> ??</a:t>
                      </a:r>
                      <a:endParaRPr lang="en-IN" sz="1200" dirty="0">
                        <a:effectLst/>
                        <a:latin typeface="+mj-lt"/>
                        <a:ea typeface="+mn-ea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930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38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1222" y="231502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Performance Test Scenarios</a:t>
            </a:r>
            <a:endParaRPr lang="en-US" sz="2800" dirty="0">
              <a:latin typeface="Calibri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05C9F3-4ADC-422C-B966-5723440C0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56627"/>
              </p:ext>
            </p:extLst>
          </p:nvPr>
        </p:nvGraphicFramePr>
        <p:xfrm>
          <a:off x="251222" y="1161508"/>
          <a:ext cx="5637360" cy="5141648"/>
        </p:xfrm>
        <a:graphic>
          <a:graphicData uri="http://schemas.openxmlformats.org/drawingml/2006/table">
            <a:tbl>
              <a:tblPr firstRow="1" bandRow="1"/>
              <a:tblGrid>
                <a:gridCol w="866030">
                  <a:extLst>
                    <a:ext uri="{9D8B030D-6E8A-4147-A177-3AD203B41FA5}">
                      <a16:colId xmlns:a16="http://schemas.microsoft.com/office/drawing/2014/main" val="3692393212"/>
                    </a:ext>
                  </a:extLst>
                </a:gridCol>
                <a:gridCol w="709115">
                  <a:extLst>
                    <a:ext uri="{9D8B030D-6E8A-4147-A177-3AD203B41FA5}">
                      <a16:colId xmlns:a16="http://schemas.microsoft.com/office/drawing/2014/main" val="2485739386"/>
                    </a:ext>
                  </a:extLst>
                </a:gridCol>
                <a:gridCol w="4062215">
                  <a:extLst>
                    <a:ext uri="{9D8B030D-6E8A-4147-A177-3AD203B41FA5}">
                      <a16:colId xmlns:a16="http://schemas.microsoft.com/office/drawing/2014/main" val="1148724502"/>
                    </a:ext>
                  </a:extLst>
                </a:gridCol>
              </a:tblGrid>
              <a:tr h="27544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Sl.No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API Name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97214"/>
                  </a:ext>
                </a:extLst>
              </a:tr>
              <a:tr h="175091">
                <a:tc rowSpan="2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API Service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getContentLanguages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345622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/mobile/assistance/synchronize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138334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getUserProfile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315033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/mobile/assistance/getMembershipInfo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330223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/mobile/assistance/setDeviceInfo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615011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/mobile/assistance/getCountryGuide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295455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/mobile/assistance/setCurrentCountryAndGetAlerts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370172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/mobile/assistance/GetUserAccessToken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12286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/mobile/assistance/setCheckIn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15706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/mobile/assistance/getDeviceToken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687156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/mobile/assistance/login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53944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/mobile/assistance/getNotificationSettings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364876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/mobile/assistance/checkPasswordResetToken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76438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/mobile/assistance/createLogin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296247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/mobile/assistance/insertPushNotification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3366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/mobile/assistance/setPassword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443213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/mobile/assistance/createUserProfile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510193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/mobile/assistance/sendPasswordResetToken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330033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/mobile/assistance/logout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81822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getMembershipNumber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950646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updateUserProfile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261729"/>
                  </a:ext>
                </a:extLst>
              </a:tr>
              <a:tr h="1750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/mobile/assistance/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getCountryInfoFromLocationData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4739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295308-0504-4533-8867-8354BD96C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09842"/>
              </p:ext>
            </p:extLst>
          </p:nvPr>
        </p:nvGraphicFramePr>
        <p:xfrm>
          <a:off x="6038713" y="1167261"/>
          <a:ext cx="5544617" cy="1800200"/>
        </p:xfrm>
        <a:graphic>
          <a:graphicData uri="http://schemas.openxmlformats.org/drawingml/2006/table">
            <a:tbl>
              <a:tblPr firstRow="1" bandRow="1"/>
              <a:tblGrid>
                <a:gridCol w="1103545">
                  <a:extLst>
                    <a:ext uri="{9D8B030D-6E8A-4147-A177-3AD203B41FA5}">
                      <a16:colId xmlns:a16="http://schemas.microsoft.com/office/drawing/2014/main" val="3503334204"/>
                    </a:ext>
                  </a:extLst>
                </a:gridCol>
                <a:gridCol w="953329">
                  <a:extLst>
                    <a:ext uri="{9D8B030D-6E8A-4147-A177-3AD203B41FA5}">
                      <a16:colId xmlns:a16="http://schemas.microsoft.com/office/drawing/2014/main" val="3062043181"/>
                    </a:ext>
                  </a:extLst>
                </a:gridCol>
                <a:gridCol w="3487743">
                  <a:extLst>
                    <a:ext uri="{9D8B030D-6E8A-4147-A177-3AD203B41FA5}">
                      <a16:colId xmlns:a16="http://schemas.microsoft.com/office/drawing/2014/main" val="1296773949"/>
                    </a:ext>
                  </a:extLst>
                </a:gridCol>
              </a:tblGrid>
              <a:tr h="346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Sl.No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Scenario Name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08305"/>
                  </a:ext>
                </a:extLst>
              </a:tr>
              <a:tr h="243777">
                <a:tc rowSpan="6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End User Experience on Real Device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Landing page &amp; Login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394563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My Location &amp; Save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3959140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Check In &amp; Save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08575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View Alerts &amp; Tab Navigation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780035"/>
                  </a:ext>
                </a:extLst>
              </a:tr>
              <a:tr h="23440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Viewing Risk Guide &amp; Tab Navigation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8211344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Search For Country Guide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20947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2096D7-4C41-43DC-B52B-1A313595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57170"/>
              </p:ext>
            </p:extLst>
          </p:nvPr>
        </p:nvGraphicFramePr>
        <p:xfrm>
          <a:off x="6070108" y="3776345"/>
          <a:ext cx="5531228" cy="1459371"/>
        </p:xfrm>
        <a:graphic>
          <a:graphicData uri="http://schemas.openxmlformats.org/drawingml/2006/table">
            <a:tbl>
              <a:tblPr firstRow="1" bandRow="1"/>
              <a:tblGrid>
                <a:gridCol w="1156346">
                  <a:extLst>
                    <a:ext uri="{9D8B030D-6E8A-4147-A177-3AD203B41FA5}">
                      <a16:colId xmlns:a16="http://schemas.microsoft.com/office/drawing/2014/main" val="3503334204"/>
                    </a:ext>
                  </a:extLst>
                </a:gridCol>
                <a:gridCol w="668187">
                  <a:extLst>
                    <a:ext uri="{9D8B030D-6E8A-4147-A177-3AD203B41FA5}">
                      <a16:colId xmlns:a16="http://schemas.microsoft.com/office/drawing/2014/main" val="3062043181"/>
                    </a:ext>
                  </a:extLst>
                </a:gridCol>
                <a:gridCol w="3706695">
                  <a:extLst>
                    <a:ext uri="{9D8B030D-6E8A-4147-A177-3AD203B41FA5}">
                      <a16:colId xmlns:a16="http://schemas.microsoft.com/office/drawing/2014/main" val="1296773949"/>
                    </a:ext>
                  </a:extLst>
                </a:gridCol>
              </a:tblGrid>
              <a:tr h="346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Sl.No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Scenario Name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08305"/>
                  </a:ext>
                </a:extLst>
              </a:tr>
              <a:tr h="243777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Device Hardware Performance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User perform above scenarios for 30 minutes and push the application to background for 30 minutes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394563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Application Running in the background in a Stationary State for 1 Hour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3959140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Application set to foreground for 1 hour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085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AC11D6-A89C-4311-A6B7-E1289C373384}"/>
              </a:ext>
            </a:extLst>
          </p:cNvPr>
          <p:cNvSpPr txBox="1"/>
          <p:nvPr/>
        </p:nvSpPr>
        <p:spPr>
          <a:xfrm>
            <a:off x="251222" y="853731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To generate the load on Mobile Application &amp; DB servers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92266-66F0-4813-B724-F01263819D7A}"/>
              </a:ext>
            </a:extLst>
          </p:cNvPr>
          <p:cNvSpPr txBox="1"/>
          <p:nvPr/>
        </p:nvSpPr>
        <p:spPr>
          <a:xfrm>
            <a:off x="5975441" y="861878"/>
            <a:ext cx="5414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To know end user experience of mobile app on the real mobile devices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32B0E5-B0A8-4BE7-8A7A-8CA46FF52925}"/>
              </a:ext>
            </a:extLst>
          </p:cNvPr>
          <p:cNvSpPr txBox="1"/>
          <p:nvPr/>
        </p:nvSpPr>
        <p:spPr>
          <a:xfrm>
            <a:off x="6011862" y="3209112"/>
            <a:ext cx="5414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To know the mobile device hardware usage (CPU, Memory &amp; Battery) patterns at different workload conditions</a:t>
            </a:r>
            <a:endParaRPr lang="en-IN" sz="1400" dirty="0">
              <a:solidFill>
                <a:srgbClr val="002060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509A982-AE2B-49A0-8BF6-1AB676E7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41049"/>
              </p:ext>
            </p:extLst>
          </p:nvPr>
        </p:nvGraphicFramePr>
        <p:xfrm>
          <a:off x="6070108" y="5325792"/>
          <a:ext cx="5531228" cy="977364"/>
        </p:xfrm>
        <a:graphic>
          <a:graphicData uri="http://schemas.openxmlformats.org/drawingml/2006/table">
            <a:tbl>
              <a:tblPr firstRow="1" firstCol="1" bandRow="1"/>
              <a:tblGrid>
                <a:gridCol w="1223253">
                  <a:extLst>
                    <a:ext uri="{9D8B030D-6E8A-4147-A177-3AD203B41FA5}">
                      <a16:colId xmlns:a16="http://schemas.microsoft.com/office/drawing/2014/main" val="3470869017"/>
                    </a:ext>
                  </a:extLst>
                </a:gridCol>
                <a:gridCol w="904143">
                  <a:extLst>
                    <a:ext uri="{9D8B030D-6E8A-4147-A177-3AD203B41FA5}">
                      <a16:colId xmlns:a16="http://schemas.microsoft.com/office/drawing/2014/main" val="2291832585"/>
                    </a:ext>
                  </a:extLst>
                </a:gridCol>
                <a:gridCol w="1196660">
                  <a:extLst>
                    <a:ext uri="{9D8B030D-6E8A-4147-A177-3AD203B41FA5}">
                      <a16:colId xmlns:a16="http://schemas.microsoft.com/office/drawing/2014/main" val="441036275"/>
                    </a:ext>
                  </a:extLst>
                </a:gridCol>
                <a:gridCol w="1329622">
                  <a:extLst>
                    <a:ext uri="{9D8B030D-6E8A-4147-A177-3AD203B41FA5}">
                      <a16:colId xmlns:a16="http://schemas.microsoft.com/office/drawing/2014/main" val="3599596039"/>
                    </a:ext>
                  </a:extLst>
                </a:gridCol>
                <a:gridCol w="877550">
                  <a:extLst>
                    <a:ext uri="{9D8B030D-6E8A-4147-A177-3AD203B41FA5}">
                      <a16:colId xmlns:a16="http://schemas.microsoft.com/office/drawing/2014/main" val="2367534324"/>
                    </a:ext>
                  </a:extLst>
                </a:gridCol>
              </a:tblGrid>
              <a:tr h="38065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Device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CPU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Memory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Battery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55027"/>
                  </a:ext>
                </a:extLst>
              </a:tr>
              <a:tr h="298353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iPhone 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GB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2716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7769"/>
                  </a:ext>
                </a:extLst>
              </a:tr>
              <a:tr h="298353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Samsung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Octa Core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8 GB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3400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36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75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79214" y="231502"/>
            <a:ext cx="8559800" cy="476250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Performance Test Results</a:t>
            </a:r>
            <a:endParaRPr lang="en-US" sz="2800" dirty="0">
              <a:latin typeface="Calibri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07DFBE-3EBE-4201-B1DE-26CECA907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695825"/>
              </p:ext>
            </p:extLst>
          </p:nvPr>
        </p:nvGraphicFramePr>
        <p:xfrm>
          <a:off x="539254" y="869079"/>
          <a:ext cx="10801200" cy="4880716"/>
        </p:xfrm>
        <a:graphic>
          <a:graphicData uri="http://schemas.openxmlformats.org/drawingml/2006/table">
            <a:tbl>
              <a:tblPr firstRow="1" bandRow="1"/>
              <a:tblGrid>
                <a:gridCol w="887846">
                  <a:extLst>
                    <a:ext uri="{9D8B030D-6E8A-4147-A177-3AD203B41FA5}">
                      <a16:colId xmlns:a16="http://schemas.microsoft.com/office/drawing/2014/main" val="3692393212"/>
                    </a:ext>
                  </a:extLst>
                </a:gridCol>
                <a:gridCol w="690545">
                  <a:extLst>
                    <a:ext uri="{9D8B030D-6E8A-4147-A177-3AD203B41FA5}">
                      <a16:colId xmlns:a16="http://schemas.microsoft.com/office/drawing/2014/main" val="2485739386"/>
                    </a:ext>
                  </a:extLst>
                </a:gridCol>
                <a:gridCol w="4586286">
                  <a:extLst>
                    <a:ext uri="{9D8B030D-6E8A-4147-A177-3AD203B41FA5}">
                      <a16:colId xmlns:a16="http://schemas.microsoft.com/office/drawing/2014/main" val="1148724502"/>
                    </a:ext>
                  </a:extLst>
                </a:gridCol>
                <a:gridCol w="2367586">
                  <a:extLst>
                    <a:ext uri="{9D8B030D-6E8A-4147-A177-3AD203B41FA5}">
                      <a16:colId xmlns:a16="http://schemas.microsoft.com/office/drawing/2014/main" val="3973317318"/>
                    </a:ext>
                  </a:extLst>
                </a:gridCol>
                <a:gridCol w="2268937">
                  <a:extLst>
                    <a:ext uri="{9D8B030D-6E8A-4147-A177-3AD203B41FA5}">
                      <a16:colId xmlns:a16="http://schemas.microsoft.com/office/drawing/2014/main" val="424317809"/>
                    </a:ext>
                  </a:extLst>
                </a:gridCol>
              </a:tblGrid>
              <a:tr h="1666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API Name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Peak Hour Work Load Distribution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97214"/>
                  </a:ext>
                </a:extLst>
              </a:tr>
              <a:tr h="130417">
                <a:tc vMerge="1">
                  <a:txBody>
                    <a:bodyPr/>
                    <a:lstStyle/>
                    <a:p>
                      <a:pPr algn="l" fontAlgn="b"/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( 1X Load – 200 Users)</a:t>
                      </a:r>
                    </a:p>
                  </a:txBody>
                  <a:tcPr marL="5768" marR="5768" marT="576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(2X Load – 400 Users)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8" marR="5768" marT="576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12609"/>
                  </a:ext>
                </a:extLst>
              </a:tr>
              <a:tr h="113379">
                <a:tc rowSpan="23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API Service</a:t>
                      </a:r>
                    </a:p>
                  </a:txBody>
                  <a:tcPr marL="5768" marR="5768" marT="5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getContentLanguages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17,599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35198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345622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/mobile/assistance/synchronize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15,433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30866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138334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getUserProfile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9,902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19804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315033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getMembershipInfo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7,491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14982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330223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setDeviceInfo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7,190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14380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615011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/mobile/assistance/getCountryGuide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6,714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13428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295455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/mobile/assistance/setCurrentCountryAndGetAlerts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5,095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10190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370172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GetUserAccessToken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3,137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6274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122869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5768" marR="5768" marT="5768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/mobile/assistance/setCheckIn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1874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687156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getDeviceToken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539449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/mobile/assistance/login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364876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/mobile/assistance/getNotificationSettings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764389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/mobile/assistance/checkPasswordResetToken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296247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createLogin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33669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insertPushNotification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443213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5768" marR="5768" marT="5768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setPassword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330033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</a:t>
                      </a:r>
                      <a:r>
                        <a:rPr lang="en-IN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createUserProfile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81822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</a:t>
                      </a:r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/mobile/assistance/sendPasswordResetToken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950646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</a:t>
                      </a:r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/mobile/assistance/logout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261729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</a:t>
                      </a:r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/mobile/assistance/getMembershipNumber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473961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marL="5768" marR="5768" marT="5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/mobile/assistance/updateUserProfile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39595"/>
                  </a:ext>
                </a:extLst>
              </a:tr>
              <a:tr h="113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22</a:t>
                      </a:r>
                    </a:p>
                  </a:txBody>
                  <a:tcPr marL="5768" marR="5768" marT="5768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/mobile/assistance/getCountryInfoFromLocationData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826644"/>
                  </a:ext>
                </a:extLst>
              </a:tr>
              <a:tr h="1248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+mj-lt"/>
                        </a:rPr>
                        <a:t>Total</a:t>
                      </a:r>
                      <a:endParaRPr lang="en-IN" sz="1200" b="1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 marL="5768" marR="5768" marT="5768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75,255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1,50,510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9230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B5ADC01-CBB6-4813-AEFD-2ACCADF6BB77}"/>
              </a:ext>
            </a:extLst>
          </p:cNvPr>
          <p:cNvSpPr txBox="1"/>
          <p:nvPr/>
        </p:nvSpPr>
        <p:spPr>
          <a:xfrm>
            <a:off x="2051422" y="5775736"/>
            <a:ext cx="864095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Key Notes: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Google Analytics has been used for finding the peak day and peak hour traffic from the production logs on comparing past 1 year 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10</a:t>
            </a:r>
            <a:r>
              <a:rPr lang="en-US" sz="1200" baseline="30000" dirty="0"/>
              <a:t>th</a:t>
            </a:r>
            <a:r>
              <a:rPr lang="en-US" sz="1200" dirty="0"/>
              <a:t> Sep 2019 observed to be a peak day and 12 PM of the same day observed to be a peak hour.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AppDynamics has been used for taking the API details for above mentioned peak hour. This peak hour load considered as 1x load. 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4553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95238" y="194523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Performance Testing Approach</a:t>
            </a:r>
            <a:endParaRPr lang="en-US" sz="2800" dirty="0">
              <a:latin typeface="Calibri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63C093-B889-4E7A-B164-A280C664CD08}"/>
              </a:ext>
            </a:extLst>
          </p:cNvPr>
          <p:cNvSpPr/>
          <p:nvPr/>
        </p:nvSpPr>
        <p:spPr>
          <a:xfrm>
            <a:off x="143210" y="879574"/>
            <a:ext cx="11377264" cy="4785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defRPr/>
            </a:pPr>
            <a:r>
              <a:rPr lang="en-US" sz="1800" b="1" u="sng" dirty="0">
                <a:solidFill>
                  <a:schemeClr val="tx2">
                    <a:lumMod val="75000"/>
                  </a:schemeClr>
                </a:solidFill>
              </a:rPr>
              <a:t>API Level Testing: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Develop scripts in JMeter for all identified API’s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Design load test scenarios in JMeter which simulates workloads mentioned in slide # 5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Conduct each load test for 1 hour steady state through JMeter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Collect all test results, analyze them to pin point all potential performance issues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Report all key findings/observations.</a:t>
            </a:r>
          </a:p>
          <a:p>
            <a:pPr algn="just">
              <a:spcBef>
                <a:spcPts val="1200"/>
              </a:spcBef>
              <a:defRPr/>
            </a:pPr>
            <a:r>
              <a:rPr lang="en-US" sz="1800" b="1" u="sng" dirty="0">
                <a:solidFill>
                  <a:schemeClr val="tx2">
                    <a:lumMod val="75000"/>
                  </a:schemeClr>
                </a:solidFill>
              </a:rPr>
              <a:t>Testing on Real Devices: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Develop test framework and build automated scripts in Appium compatible for identified mobile devices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Run the automated scripts in parallel with JMeter load tests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Gather performance metrics of application usage and its performance 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Report all key findings/observations.</a:t>
            </a:r>
          </a:p>
          <a:p>
            <a:pPr algn="just">
              <a:spcBef>
                <a:spcPts val="1200"/>
              </a:spcBef>
              <a:defRPr/>
            </a:pPr>
            <a:r>
              <a:rPr lang="en-US" sz="1800" b="1" u="sng" dirty="0">
                <a:solidFill>
                  <a:schemeClr val="tx2">
                    <a:lumMod val="75000"/>
                  </a:schemeClr>
                </a:solidFill>
              </a:rPr>
              <a:t>Real Device Hardware Performance (CPU, Memory &amp; Battery)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CPU &amp; Memory details will be taken from the load test results for the respective duration</a:t>
            </a:r>
          </a:p>
          <a:p>
            <a:pPr marL="766336" lvl="1" indent="-2286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Battery Performance will be monitored and measured for manual test duration (app running background, foreground etc..)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106BB-40D7-4514-8B6E-A39A41EEFB9C}"/>
              </a:ext>
            </a:extLst>
          </p:cNvPr>
          <p:cNvSpPr txBox="1"/>
          <p:nvPr/>
        </p:nvSpPr>
        <p:spPr>
          <a:xfrm>
            <a:off x="1907406" y="5874301"/>
            <a:ext cx="6828899" cy="58477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Note: App/DB Server Performance will be monitored through AppDynamics provided Performance Team Granted access on AppDynamics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7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1222" y="159494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Limitations To Testing</a:t>
            </a:r>
            <a:endParaRPr lang="en-US" sz="2800" dirty="0">
              <a:latin typeface="Calibri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28271-081F-48E4-AFE7-750D1F27774D}"/>
              </a:ext>
            </a:extLst>
          </p:cNvPr>
          <p:cNvSpPr txBox="1"/>
          <p:nvPr/>
        </p:nvSpPr>
        <p:spPr>
          <a:xfrm>
            <a:off x="404392" y="879574"/>
            <a:ext cx="11152086" cy="19851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Application performance will be measured only on the identified devices with given hardware hence the results are bound to specific devices (below is the device considered for performance testing)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Hardware performance (CPU/Memory and Battery Usage) will be measured only for the below devices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Application performance readings are applicable only for the region/city from where the testing is done.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ISOS doesn’t have Load Generators from any other locations apart from US (Azure VM), therefore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API performance will be measured only for US region users. 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BF9AF-4A92-4C8E-AB3F-38B003A91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343120"/>
              </p:ext>
            </p:extLst>
          </p:nvPr>
        </p:nvGraphicFramePr>
        <p:xfrm>
          <a:off x="2627486" y="3471862"/>
          <a:ext cx="6336706" cy="1650228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26702">
                  <a:extLst>
                    <a:ext uri="{9D8B030D-6E8A-4147-A177-3AD203B41FA5}">
                      <a16:colId xmlns:a16="http://schemas.microsoft.com/office/drawing/2014/main" val="68027753"/>
                    </a:ext>
                  </a:extLst>
                </a:gridCol>
                <a:gridCol w="1041651">
                  <a:extLst>
                    <a:ext uri="{9D8B030D-6E8A-4147-A177-3AD203B41FA5}">
                      <a16:colId xmlns:a16="http://schemas.microsoft.com/office/drawing/2014/main" val="3081214616"/>
                    </a:ext>
                  </a:extLst>
                </a:gridCol>
                <a:gridCol w="1041651">
                  <a:extLst>
                    <a:ext uri="{9D8B030D-6E8A-4147-A177-3AD203B41FA5}">
                      <a16:colId xmlns:a16="http://schemas.microsoft.com/office/drawing/2014/main" val="1801604541"/>
                    </a:ext>
                  </a:extLst>
                </a:gridCol>
                <a:gridCol w="1085051">
                  <a:extLst>
                    <a:ext uri="{9D8B030D-6E8A-4147-A177-3AD203B41FA5}">
                      <a16:colId xmlns:a16="http://schemas.microsoft.com/office/drawing/2014/main" val="3869303322"/>
                    </a:ext>
                  </a:extLst>
                </a:gridCol>
                <a:gridCol w="1041651">
                  <a:extLst>
                    <a:ext uri="{9D8B030D-6E8A-4147-A177-3AD203B41FA5}">
                      <a16:colId xmlns:a16="http://schemas.microsoft.com/office/drawing/2014/main" val="1757025811"/>
                    </a:ext>
                  </a:extLst>
                </a:gridCol>
              </a:tblGrid>
              <a:tr h="642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</a:rPr>
                        <a:t>Device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</a:rPr>
                        <a:t>CPU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</a:rPr>
                        <a:t>Battery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</a:rPr>
                        <a:t>OS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7641352"/>
                  </a:ext>
                </a:extLst>
              </a:tr>
              <a:tr h="503662"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IN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iPhone 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GB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2716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13.4.1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30005784"/>
                  </a:ext>
                </a:extLst>
              </a:tr>
              <a:tr h="503662"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IN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Samsung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Octa-Core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8 GB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3400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10.0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7154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54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45141" y="178104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Region Wise User Load Distribution</a:t>
            </a:r>
            <a:endParaRPr lang="en-US" sz="2800" dirty="0">
              <a:latin typeface="Calibri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AED9D32-97CF-4C4D-99C4-BB1AC6BF98E3}"/>
              </a:ext>
            </a:extLst>
          </p:cNvPr>
          <p:cNvGrpSpPr/>
          <p:nvPr/>
        </p:nvGrpSpPr>
        <p:grpSpPr>
          <a:xfrm>
            <a:off x="1239564" y="1399475"/>
            <a:ext cx="8948187" cy="3004896"/>
            <a:chOff x="509591" y="1128830"/>
            <a:chExt cx="8947878" cy="3352267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DC43AE4B-FCFE-40C5-997D-F305067CCAFC}"/>
                </a:ext>
              </a:extLst>
            </p:cNvPr>
            <p:cNvSpPr/>
            <p:nvPr/>
          </p:nvSpPr>
          <p:spPr>
            <a:xfrm>
              <a:off x="3894951" y="1128830"/>
              <a:ext cx="5562518" cy="33522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AE564FD-3D8A-44B1-8220-1448C9543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509591" y="1587522"/>
              <a:ext cx="1339851" cy="1108366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6F719C8-9009-4647-B984-FDC624012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4722659" y="2065186"/>
              <a:ext cx="1467603" cy="1479557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B969EE3-89F1-4B6E-9FAB-0919037DF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7217043" y="1929028"/>
              <a:ext cx="1443960" cy="1383308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801BFC2-61EB-43A4-B3F8-5743FEED8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 rot="16200000" flipV="1">
              <a:off x="2117829" y="2320248"/>
              <a:ext cx="2106531" cy="796413"/>
            </a:xfrm>
            <a:prstGeom prst="rect">
              <a:avLst/>
            </a:prstGeom>
          </p:spPr>
        </p:pic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AD18E0A-8DEA-44D9-9D82-F6294BBE76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2111" y="2163333"/>
              <a:ext cx="1566376" cy="665848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E8764CF-9FA2-4423-8255-B0135BB34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2714" y="2727496"/>
              <a:ext cx="1274329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A803F03-FF17-41F1-BEB9-C4B4B0F706F2}"/>
                </a:ext>
              </a:extLst>
            </p:cNvPr>
            <p:cNvSpPr txBox="1"/>
            <p:nvPr/>
          </p:nvSpPr>
          <p:spPr>
            <a:xfrm>
              <a:off x="878595" y="1253088"/>
              <a:ext cx="755781" cy="377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IOS 6</a:t>
              </a:r>
              <a:endParaRPr lang="en-IN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E90BD1-5958-47BC-A814-AD757A3BEC41}"/>
                </a:ext>
              </a:extLst>
            </p:cNvPr>
            <p:cNvSpPr txBox="1"/>
            <p:nvPr/>
          </p:nvSpPr>
          <p:spPr>
            <a:xfrm>
              <a:off x="4274771" y="3557022"/>
              <a:ext cx="2073268" cy="377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Middleware Server</a:t>
              </a:r>
              <a:endParaRPr lang="en-IN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A8BB357-0F61-4DF5-958F-4F9466A979E2}"/>
                </a:ext>
              </a:extLst>
            </p:cNvPr>
            <p:cNvSpPr txBox="1"/>
            <p:nvPr/>
          </p:nvSpPr>
          <p:spPr>
            <a:xfrm>
              <a:off x="7056055" y="3579127"/>
              <a:ext cx="1985583" cy="377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Assistance DB Server</a:t>
              </a:r>
              <a:endParaRPr lang="en-IN" sz="1600" dirty="0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C7ED93C-06B9-4A5A-8450-1F8D0950CE0B}"/>
                </a:ext>
              </a:extLst>
            </p:cNvPr>
            <p:cNvCxnSpPr>
              <a:cxnSpLocks/>
              <a:stCxn id="74" idx="1"/>
            </p:cNvCxnSpPr>
            <p:nvPr/>
          </p:nvCxnSpPr>
          <p:spPr>
            <a:xfrm flipH="1">
              <a:off x="3448331" y="2804964"/>
              <a:ext cx="1274328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68E0CDB-0425-4FAC-BC2C-2A20F0F9C5F5}"/>
                </a:ext>
              </a:extLst>
            </p:cNvPr>
            <p:cNvSpPr txBox="1"/>
            <p:nvPr/>
          </p:nvSpPr>
          <p:spPr>
            <a:xfrm>
              <a:off x="4888536" y="1286986"/>
              <a:ext cx="3772467" cy="513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AUT – Staging Environment</a:t>
              </a:r>
              <a:endParaRPr lang="en-IN" dirty="0"/>
            </a:p>
          </p:txBody>
        </p:sp>
      </p:grp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4CE34F83-FDC6-43BC-B681-2AEF370B1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05849"/>
              </p:ext>
            </p:extLst>
          </p:nvPr>
        </p:nvGraphicFramePr>
        <p:xfrm>
          <a:off x="2595916" y="4739999"/>
          <a:ext cx="681566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659">
                  <a:extLst>
                    <a:ext uri="{9D8B030D-6E8A-4147-A177-3AD203B41FA5}">
                      <a16:colId xmlns:a16="http://schemas.microsoft.com/office/drawing/2014/main" val="134209157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27864329"/>
                    </a:ext>
                  </a:extLst>
                </a:gridCol>
                <a:gridCol w="3455808">
                  <a:extLst>
                    <a:ext uri="{9D8B030D-6E8A-4147-A177-3AD203B41FA5}">
                      <a16:colId xmlns:a16="http://schemas.microsoft.com/office/drawing/2014/main" val="35466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Region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User Load Distribution (%)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3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Device Load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India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100%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3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API Load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US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100%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61646"/>
                  </a:ext>
                </a:extLst>
              </a:tr>
            </a:tbl>
          </a:graphicData>
        </a:graphic>
      </p:graphicFrame>
      <p:pic>
        <p:nvPicPr>
          <p:cNvPr id="2050" name="Picture 2" descr="Android device - Free technology icons">
            <a:extLst>
              <a:ext uri="{FF2B5EF4-FFF2-40B4-BE49-F238E27FC236}">
                <a16:creationId xmlns:a16="http://schemas.microsoft.com/office/drawing/2014/main" id="{625484CC-3426-4447-8971-3728E805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225" y="2968819"/>
            <a:ext cx="1214463" cy="121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4026C3-AA92-4729-8BE9-6EDFB0AEB38A}"/>
              </a:ext>
            </a:extLst>
          </p:cNvPr>
          <p:cNvCxnSpPr>
            <a:cxnSpLocks/>
          </p:cNvCxnSpPr>
          <p:nvPr/>
        </p:nvCxnSpPr>
        <p:spPr>
          <a:xfrm flipH="1">
            <a:off x="2264865" y="3103929"/>
            <a:ext cx="1527947" cy="49193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73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1889" y="187020"/>
            <a:ext cx="9505056" cy="476250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Performance Test Harness- High Level Architecture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7060C40-F158-4767-B35F-83CF07E0F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277" y="2966300"/>
            <a:ext cx="8902114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alt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simplified schematic of the systems and data flows included within Performance Testing are shown here. 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alt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Below diagram (configured on AppDynamics) shows some other components which are part of Assistance application, however it is still not covered database server due to license constraints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6FFB74-268F-44C2-86D5-3209DC2E5B10}"/>
              </a:ext>
            </a:extLst>
          </p:cNvPr>
          <p:cNvGrpSpPr/>
          <p:nvPr/>
        </p:nvGrpSpPr>
        <p:grpSpPr>
          <a:xfrm>
            <a:off x="1885765" y="854011"/>
            <a:ext cx="7925722" cy="1796879"/>
            <a:chOff x="1008042" y="664221"/>
            <a:chExt cx="7925722" cy="179687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FC5B2D1-46DC-43BB-BF65-6318F3B8DBB6}"/>
                </a:ext>
              </a:extLst>
            </p:cNvPr>
            <p:cNvSpPr/>
            <p:nvPr/>
          </p:nvSpPr>
          <p:spPr>
            <a:xfrm>
              <a:off x="3763309" y="1041351"/>
              <a:ext cx="5093524" cy="14197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8CC64B-645C-409C-96FF-42E204FAA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4516708" y="1435255"/>
              <a:ext cx="1343865" cy="62662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527EACC-CD3C-4B45-849A-EECC10440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6800782" y="1377590"/>
              <a:ext cx="1322215" cy="5858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5A4A52E-2A36-41BC-8F60-A22878A2E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 rot="16200000" flipV="1">
              <a:off x="2649882" y="1347294"/>
              <a:ext cx="892156" cy="729265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320857-F738-4C97-B4E4-4DB260B67C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7778" y="1265848"/>
              <a:ext cx="1541697" cy="482717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9E3A4EC-D9C5-4DE3-8348-05D595F8E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3895" y="1715756"/>
              <a:ext cx="116688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5A6738-F1A6-4EB3-B72D-F8F0471F0BF0}"/>
                </a:ext>
              </a:extLst>
            </p:cNvPr>
            <p:cNvSpPr txBox="1"/>
            <p:nvPr/>
          </p:nvSpPr>
          <p:spPr>
            <a:xfrm>
              <a:off x="1008042" y="664221"/>
              <a:ext cx="9594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IOS</a:t>
              </a:r>
              <a:endParaRPr lang="en-IN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20F9B6-5F08-430B-84CC-E359932A4315}"/>
                </a:ext>
              </a:extLst>
            </p:cNvPr>
            <p:cNvSpPr txBox="1"/>
            <p:nvPr/>
          </p:nvSpPr>
          <p:spPr>
            <a:xfrm>
              <a:off x="4498727" y="2089117"/>
              <a:ext cx="1703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Middleware</a:t>
              </a:r>
              <a:endParaRPr lang="en-IN" sz="1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7EB605-5C5F-4943-AF7B-215C3B42EDA2}"/>
                </a:ext>
              </a:extLst>
            </p:cNvPr>
            <p:cNvSpPr txBox="1"/>
            <p:nvPr/>
          </p:nvSpPr>
          <p:spPr>
            <a:xfrm>
              <a:off x="6505019" y="2040776"/>
              <a:ext cx="2428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Assistance DB Server</a:t>
              </a:r>
              <a:endParaRPr lang="en-IN" sz="16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57E857F-5FB9-4CDB-A3A7-317680C9DEBC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3349822" y="1748565"/>
              <a:ext cx="116688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90DED4-9CA4-4964-B1EF-630D3D3DB28B}"/>
                </a:ext>
              </a:extLst>
            </p:cNvPr>
            <p:cNvSpPr txBox="1"/>
            <p:nvPr/>
          </p:nvSpPr>
          <p:spPr>
            <a:xfrm>
              <a:off x="4892675" y="1036519"/>
              <a:ext cx="27755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AUT – Staging Environment</a:t>
              </a:r>
              <a:endParaRPr lang="en-IN" sz="18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B829EF0-E154-4EB0-9657-4CF20C40B6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7408" y="3864414"/>
            <a:ext cx="5910758" cy="2548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F265A8-509B-458D-A29C-F3E161F501D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610577" y="1099920"/>
            <a:ext cx="959474" cy="711436"/>
          </a:xfrm>
          <a:prstGeom prst="rect">
            <a:avLst/>
          </a:prstGeom>
        </p:spPr>
      </p:pic>
      <p:pic>
        <p:nvPicPr>
          <p:cNvPr id="19" name="Picture 2" descr="Android device - Free technology icons">
            <a:extLst>
              <a:ext uri="{FF2B5EF4-FFF2-40B4-BE49-F238E27FC236}">
                <a16:creationId xmlns:a16="http://schemas.microsoft.com/office/drawing/2014/main" id="{A9367288-317B-47E6-803F-FCEFAEF4A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317" y="2046523"/>
            <a:ext cx="809993" cy="80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881A6F-96E3-4A40-AA72-594518C5D27A}"/>
              </a:ext>
            </a:extLst>
          </p:cNvPr>
          <p:cNvCxnSpPr>
            <a:cxnSpLocks/>
          </p:cNvCxnSpPr>
          <p:nvPr/>
        </p:nvCxnSpPr>
        <p:spPr>
          <a:xfrm flipH="1">
            <a:off x="2339886" y="2046523"/>
            <a:ext cx="1537172" cy="44629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12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72642" y="160094"/>
            <a:ext cx="8559800" cy="476250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User Load Ramp up Pattern</a:t>
            </a:r>
            <a:endParaRPr lang="en-US" sz="2800" dirty="0">
              <a:latin typeface="Calibri" charset="0"/>
            </a:endParaRP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CD43590-F257-4AC5-B099-47BA7C588018}"/>
              </a:ext>
            </a:extLst>
          </p:cNvPr>
          <p:cNvGrpSpPr/>
          <p:nvPr/>
        </p:nvGrpSpPr>
        <p:grpSpPr>
          <a:xfrm>
            <a:off x="1403351" y="1671662"/>
            <a:ext cx="8953207" cy="3832886"/>
            <a:chOff x="35496" y="615110"/>
            <a:chExt cx="8953207" cy="393941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E83D313-DC76-43DA-A8D9-3D660885E1A5}"/>
                </a:ext>
              </a:extLst>
            </p:cNvPr>
            <p:cNvGrpSpPr/>
            <p:nvPr/>
          </p:nvGrpSpPr>
          <p:grpSpPr>
            <a:xfrm>
              <a:off x="301055" y="1223703"/>
              <a:ext cx="3062526" cy="2424950"/>
              <a:chOff x="301055" y="1223702"/>
              <a:chExt cx="3062526" cy="242495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A191CF87-09AA-42D5-B9EB-71C8823CE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3528" y="2173149"/>
                <a:ext cx="511249" cy="398601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A9BB93-9959-4C48-B1E8-949614A7123F}"/>
                  </a:ext>
                </a:extLst>
              </p:cNvPr>
              <p:cNvSpPr txBox="1"/>
              <p:nvPr/>
            </p:nvSpPr>
            <p:spPr>
              <a:xfrm>
                <a:off x="301055" y="2595761"/>
                <a:ext cx="648072" cy="25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5 Users</a:t>
                </a:r>
                <a:endParaRPr lang="en-IN" sz="1000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8DA0C56-5298-4B2D-9B48-449AA8A71F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4616" y="1892824"/>
                <a:ext cx="511249" cy="398601"/>
              </a:xfrm>
              <a:prstGeom prst="rect">
                <a:avLst/>
              </a:prstGeom>
            </p:spPr>
          </p:pic>
          <p:cxnSp>
            <p:nvCxnSpPr>
              <p:cNvPr id="9" name="Connector: Elbow 8">
                <a:extLst>
                  <a:ext uri="{FF2B5EF4-FFF2-40B4-BE49-F238E27FC236}">
                    <a16:creationId xmlns:a16="http://schemas.microsoft.com/office/drawing/2014/main" id="{9C9F7DD6-9DF2-447E-8E71-AA64531068DA}"/>
                  </a:ext>
                </a:extLst>
              </p:cNvPr>
              <p:cNvCxnSpPr>
                <a:stCxn id="2" idx="0"/>
                <a:endCxn id="8" idx="1"/>
              </p:cNvCxnSpPr>
              <p:nvPr/>
            </p:nvCxnSpPr>
            <p:spPr>
              <a:xfrm rot="5400000" flipH="1" flipV="1">
                <a:off x="816372" y="1854906"/>
                <a:ext cx="81024" cy="55546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09A93D-D5C6-442E-9073-5BA2BA75483A}"/>
                  </a:ext>
                </a:extLst>
              </p:cNvPr>
              <p:cNvSpPr txBox="1"/>
              <p:nvPr/>
            </p:nvSpPr>
            <p:spPr>
              <a:xfrm>
                <a:off x="467544" y="1819848"/>
                <a:ext cx="778309" cy="25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10 seconds</a:t>
                </a:r>
                <a:endParaRPr lang="en-IN" sz="1000" dirty="0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C877646-BD08-4468-A50D-BB0C3BB46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45704" y="1597086"/>
                <a:ext cx="511249" cy="398601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9E479E-9E54-4AC6-85A7-11742A5FC863}"/>
                  </a:ext>
                </a:extLst>
              </p:cNvPr>
              <p:cNvSpPr txBox="1"/>
              <p:nvPr/>
            </p:nvSpPr>
            <p:spPr>
              <a:xfrm>
                <a:off x="1278818" y="1585825"/>
                <a:ext cx="778309" cy="25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10 seconds</a:t>
                </a:r>
                <a:endParaRPr lang="en-IN" sz="1000" dirty="0"/>
              </a:p>
            </p:txBody>
          </p: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0F1E1D44-75E4-4A40-BB4A-569E9167E6FA}"/>
                  </a:ext>
                </a:extLst>
              </p:cNvPr>
              <p:cNvCxnSpPr/>
              <p:nvPr/>
            </p:nvCxnSpPr>
            <p:spPr>
              <a:xfrm rot="5400000" flipH="1" flipV="1">
                <a:off x="1627460" y="1574580"/>
                <a:ext cx="81024" cy="55546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64D48CC-6B0F-44CE-B830-D4031596D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24013" y="1270623"/>
                <a:ext cx="511249" cy="398601"/>
              </a:xfrm>
              <a:prstGeom prst="rect">
                <a:avLst/>
              </a:prstGeom>
            </p:spPr>
          </p:pic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6E232DF4-9F60-4725-A2E2-F835FC9AD480}"/>
                  </a:ext>
                </a:extLst>
              </p:cNvPr>
              <p:cNvCxnSpPr/>
              <p:nvPr/>
            </p:nvCxnSpPr>
            <p:spPr>
              <a:xfrm rot="5400000" flipH="1" flipV="1">
                <a:off x="2416441" y="1254411"/>
                <a:ext cx="81024" cy="55546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71055D-45AA-4950-B32B-A612CC0EE0ED}"/>
                  </a:ext>
                </a:extLst>
              </p:cNvPr>
              <p:cNvSpPr txBox="1"/>
              <p:nvPr/>
            </p:nvSpPr>
            <p:spPr>
              <a:xfrm>
                <a:off x="2006752" y="1223702"/>
                <a:ext cx="778309" cy="25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10 seconds</a:t>
                </a:r>
                <a:endParaRPr lang="en-IN" sz="10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9AD44C-1F46-4B6D-822F-1E2D46C24FC3}"/>
                  </a:ext>
                </a:extLst>
              </p:cNvPr>
              <p:cNvSpPr txBox="1"/>
              <p:nvPr/>
            </p:nvSpPr>
            <p:spPr>
              <a:xfrm rot="19595175">
                <a:off x="926284" y="2543251"/>
                <a:ext cx="2390739" cy="411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002060"/>
                    </a:solidFill>
                  </a:rPr>
                  <a:t>5 users will ramp up in every 10 seconds until user count reaches 200 Users</a:t>
                </a:r>
                <a:endParaRPr lang="en-IN" sz="1000" b="1" dirty="0">
                  <a:solidFill>
                    <a:srgbClr val="002060"/>
                  </a:solidFill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19F9EB2-F1EF-41F6-94A2-E600D2376D08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 flipV="1">
                <a:off x="758004" y="3425429"/>
                <a:ext cx="365856" cy="2232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F29FF6A0-BEE1-42F8-8C44-D36E8821A2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1551" y="1907086"/>
                <a:ext cx="242030" cy="1668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1940662-4312-4FD5-960B-9FEFD2E10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9386" y="780447"/>
              <a:ext cx="511249" cy="39860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BCB2A2D-2EA3-4A47-98CA-33F1177A2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50635" y="764838"/>
              <a:ext cx="511249" cy="39860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B5D761F-7823-42BC-8E2E-E9BC1A370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1884" y="741378"/>
              <a:ext cx="511249" cy="398601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849506-D569-4D6E-BE9E-EB57CEC842B0}"/>
                </a:ext>
              </a:extLst>
            </p:cNvPr>
            <p:cNvCxnSpPr>
              <a:cxnSpLocks/>
            </p:cNvCxnSpPr>
            <p:nvPr/>
          </p:nvCxnSpPr>
          <p:spPr>
            <a:xfrm>
              <a:off x="3468300" y="648736"/>
              <a:ext cx="0" cy="3296635"/>
            </a:xfrm>
            <a:prstGeom prst="straightConnector1">
              <a:avLst/>
            </a:prstGeom>
            <a:ln w="3492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73AF9D9-C0FF-4493-ACDA-9523EEC8B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3113" y="2154635"/>
              <a:ext cx="2327836" cy="0"/>
            </a:xfrm>
            <a:prstGeom prst="straightConnector1">
              <a:avLst/>
            </a:prstGeom>
            <a:ln w="3492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C2D2B05-166D-4396-BBBD-8E4713B24283}"/>
                </a:ext>
              </a:extLst>
            </p:cNvPr>
            <p:cNvCxnSpPr>
              <a:cxnSpLocks/>
            </p:cNvCxnSpPr>
            <p:nvPr/>
          </p:nvCxnSpPr>
          <p:spPr>
            <a:xfrm>
              <a:off x="5798690" y="615110"/>
              <a:ext cx="0" cy="3330261"/>
            </a:xfrm>
            <a:prstGeom prst="straightConnector1">
              <a:avLst/>
            </a:prstGeom>
            <a:ln w="34925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82C01A5-F9B7-44E8-A8A1-54F6411F0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3858" y="1252971"/>
              <a:ext cx="511249" cy="398601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BA0A807-3767-4FE2-811E-037E79E523DB}"/>
                </a:ext>
              </a:extLst>
            </p:cNvPr>
            <p:cNvSpPr txBox="1"/>
            <p:nvPr/>
          </p:nvSpPr>
          <p:spPr>
            <a:xfrm>
              <a:off x="7227039" y="2325528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22362C9-5F84-4854-810B-9B2675777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1392" y="1582448"/>
              <a:ext cx="511249" cy="398601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D38EA4E-A81B-4F98-8DB5-BD0C27DC7406}"/>
                </a:ext>
              </a:extLst>
            </p:cNvPr>
            <p:cNvSpPr txBox="1"/>
            <p:nvPr/>
          </p:nvSpPr>
          <p:spPr>
            <a:xfrm>
              <a:off x="5725373" y="912730"/>
              <a:ext cx="778309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10 seconds</a:t>
              </a:r>
              <a:endParaRPr lang="en-IN" sz="1000" dirty="0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DD5C3B9-3A59-4457-9566-9F83DB3E6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472" y="1959472"/>
              <a:ext cx="511249" cy="398601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9FAFFDC-790D-419E-8F4E-4A9375388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1692" y="2326599"/>
              <a:ext cx="511249" cy="398601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DADD45-E024-44B6-834D-F4273F260E0C}"/>
                </a:ext>
              </a:extLst>
            </p:cNvPr>
            <p:cNvSpPr txBox="1"/>
            <p:nvPr/>
          </p:nvSpPr>
          <p:spPr>
            <a:xfrm rot="1986314">
              <a:off x="5879533" y="2585773"/>
              <a:ext cx="2534826" cy="411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2060"/>
                  </a:solidFill>
                </a:rPr>
                <a:t>5 users will ramp down in every 10 seconds until user count reaches 0 Users</a:t>
              </a:r>
              <a:endParaRPr lang="en-IN" sz="10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2D046D36-570A-465D-8405-A5F0CC4D6909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>
              <a:off x="6452867" y="1414420"/>
              <a:ext cx="404150" cy="16802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0F523B4-5460-4F28-A3B6-F6797CD10A42}"/>
                </a:ext>
              </a:extLst>
            </p:cNvPr>
            <p:cNvSpPr txBox="1"/>
            <p:nvPr/>
          </p:nvSpPr>
          <p:spPr>
            <a:xfrm>
              <a:off x="1073329" y="2241291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8284BC7-8C0E-4886-9899-4524183A513E}"/>
                </a:ext>
              </a:extLst>
            </p:cNvPr>
            <p:cNvSpPr txBox="1"/>
            <p:nvPr/>
          </p:nvSpPr>
          <p:spPr>
            <a:xfrm>
              <a:off x="1824992" y="1949156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9778DD2-A890-4198-9CEB-6C912DA4EBB0}"/>
                </a:ext>
              </a:extLst>
            </p:cNvPr>
            <p:cNvSpPr txBox="1"/>
            <p:nvPr/>
          </p:nvSpPr>
          <p:spPr>
            <a:xfrm>
              <a:off x="2620835" y="1614035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14ED5AA-D954-42A2-886A-0275F1609BED}"/>
                </a:ext>
              </a:extLst>
            </p:cNvPr>
            <p:cNvSpPr txBox="1"/>
            <p:nvPr/>
          </p:nvSpPr>
          <p:spPr>
            <a:xfrm>
              <a:off x="5866060" y="1587782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B4F398C-E1E1-4E24-8143-B4391650E90A}"/>
                </a:ext>
              </a:extLst>
            </p:cNvPr>
            <p:cNvSpPr txBox="1"/>
            <p:nvPr/>
          </p:nvSpPr>
          <p:spPr>
            <a:xfrm>
              <a:off x="6568723" y="1926641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8210B5F-A59A-40EC-BD38-5D2C72B7CFF2}"/>
                </a:ext>
              </a:extLst>
            </p:cNvPr>
            <p:cNvSpPr txBox="1"/>
            <p:nvPr/>
          </p:nvSpPr>
          <p:spPr>
            <a:xfrm>
              <a:off x="7971692" y="2659037"/>
              <a:ext cx="648072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5 Users</a:t>
              </a:r>
              <a:endParaRPr lang="en-IN" sz="1000" dirty="0"/>
            </a:p>
          </p:txBody>
        </p:sp>
        <p:cxnSp>
          <p:nvCxnSpPr>
            <p:cNvPr id="109" name="Connector: Elbow 108">
              <a:extLst>
                <a:ext uri="{FF2B5EF4-FFF2-40B4-BE49-F238E27FC236}">
                  <a16:creationId xmlns:a16="http://schemas.microsoft.com/office/drawing/2014/main" id="{9FF0F3D7-518C-4377-9869-ECFD241DA2B7}"/>
                </a:ext>
              </a:extLst>
            </p:cNvPr>
            <p:cNvCxnSpPr>
              <a:cxnSpLocks/>
            </p:cNvCxnSpPr>
            <p:nvPr/>
          </p:nvCxnSpPr>
          <p:spPr>
            <a:xfrm>
              <a:off x="7146946" y="1699963"/>
              <a:ext cx="404150" cy="16802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C467018-6F6D-4E1E-AF0E-F0219E450DD4}"/>
                </a:ext>
              </a:extLst>
            </p:cNvPr>
            <p:cNvSpPr txBox="1"/>
            <p:nvPr/>
          </p:nvSpPr>
          <p:spPr>
            <a:xfrm>
              <a:off x="6510772" y="1144067"/>
              <a:ext cx="778309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10 seconds</a:t>
              </a:r>
              <a:endParaRPr lang="en-IN" sz="1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EBDA624-3EDF-42A8-AA4D-A3CA2F21C0E7}"/>
                </a:ext>
              </a:extLst>
            </p:cNvPr>
            <p:cNvSpPr txBox="1"/>
            <p:nvPr/>
          </p:nvSpPr>
          <p:spPr>
            <a:xfrm>
              <a:off x="7113393" y="1428861"/>
              <a:ext cx="778309" cy="25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10 seconds</a:t>
              </a:r>
              <a:endParaRPr lang="en-IN" sz="1000" dirty="0"/>
            </a:p>
          </p:txBody>
        </p:sp>
        <p:cxnSp>
          <p:nvCxnSpPr>
            <p:cNvPr id="112" name="Connector: Elbow 111">
              <a:extLst>
                <a:ext uri="{FF2B5EF4-FFF2-40B4-BE49-F238E27FC236}">
                  <a16:creationId xmlns:a16="http://schemas.microsoft.com/office/drawing/2014/main" id="{B711C2C4-5F63-461D-8A9A-1E329D3E9E99}"/>
                </a:ext>
              </a:extLst>
            </p:cNvPr>
            <p:cNvCxnSpPr>
              <a:cxnSpLocks/>
            </p:cNvCxnSpPr>
            <p:nvPr/>
          </p:nvCxnSpPr>
          <p:spPr>
            <a:xfrm>
              <a:off x="7828091" y="2173690"/>
              <a:ext cx="404150" cy="16802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2C3B386-B25F-4D58-8446-D58EB66C8EF1}"/>
                </a:ext>
              </a:extLst>
            </p:cNvPr>
            <p:cNvCxnSpPr>
              <a:cxnSpLocks/>
            </p:cNvCxnSpPr>
            <p:nvPr/>
          </p:nvCxnSpPr>
          <p:spPr>
            <a:xfrm>
              <a:off x="5882177" y="1912194"/>
              <a:ext cx="233311" cy="161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637B85A-0DB9-46DE-A5D8-3C5C3F70EF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290" y="3411536"/>
              <a:ext cx="341596" cy="251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FA1AF5B-AC35-49CB-A01B-03E4F9BA785A}"/>
                </a:ext>
              </a:extLst>
            </p:cNvPr>
            <p:cNvCxnSpPr>
              <a:cxnSpLocks/>
            </p:cNvCxnSpPr>
            <p:nvPr/>
          </p:nvCxnSpPr>
          <p:spPr>
            <a:xfrm>
              <a:off x="35496" y="3795886"/>
              <a:ext cx="75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5CDF91B-38A0-4FC8-9EFA-D54FE0DD7823}"/>
                </a:ext>
              </a:extLst>
            </p:cNvPr>
            <p:cNvSpPr txBox="1"/>
            <p:nvPr/>
          </p:nvSpPr>
          <p:spPr>
            <a:xfrm>
              <a:off x="922443" y="3648653"/>
              <a:ext cx="1821152" cy="332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002060"/>
                  </a:solidFill>
                </a:rPr>
                <a:t>User Ramp up Phase</a:t>
              </a:r>
              <a:endParaRPr lang="en-IN" sz="1500" dirty="0">
                <a:solidFill>
                  <a:srgbClr val="002060"/>
                </a:solidFill>
              </a:endParaRP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2A79A7FF-4F8F-40A0-8483-326D0007FC39}"/>
                </a:ext>
              </a:extLst>
            </p:cNvPr>
            <p:cNvCxnSpPr>
              <a:cxnSpLocks/>
              <a:endCxn id="124" idx="3"/>
            </p:cNvCxnSpPr>
            <p:nvPr/>
          </p:nvCxnSpPr>
          <p:spPr>
            <a:xfrm flipH="1">
              <a:off x="2743595" y="3810235"/>
              <a:ext cx="656248" cy="4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C12D6E2-3558-4D58-B161-D30E9340E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5482" y="3792553"/>
              <a:ext cx="3353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26E2842-C128-41E3-90B2-FA0A0939D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0311" y="3810234"/>
              <a:ext cx="477633" cy="1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1129E37-AFED-49A9-A9C4-2CAE296E61FA}"/>
                </a:ext>
              </a:extLst>
            </p:cNvPr>
            <p:cNvSpPr txBox="1"/>
            <p:nvPr/>
          </p:nvSpPr>
          <p:spPr>
            <a:xfrm>
              <a:off x="4104539" y="3634303"/>
              <a:ext cx="1268594" cy="332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002060"/>
                  </a:solidFill>
                </a:rPr>
                <a:t>Steady State</a:t>
              </a:r>
              <a:endParaRPr lang="en-IN" sz="1500" dirty="0">
                <a:solidFill>
                  <a:srgbClr val="002060"/>
                </a:solidFill>
              </a:endParaRP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283809F9-1EC2-4844-BB64-BA4C3B4F8244}"/>
                </a:ext>
              </a:extLst>
            </p:cNvPr>
            <p:cNvCxnSpPr>
              <a:cxnSpLocks/>
            </p:cNvCxnSpPr>
            <p:nvPr/>
          </p:nvCxnSpPr>
          <p:spPr>
            <a:xfrm>
              <a:off x="5824833" y="3781104"/>
              <a:ext cx="6303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F689915-CC69-473B-9B6F-D2039B0E8649}"/>
                </a:ext>
              </a:extLst>
            </p:cNvPr>
            <p:cNvSpPr txBox="1"/>
            <p:nvPr/>
          </p:nvSpPr>
          <p:spPr>
            <a:xfrm>
              <a:off x="6461773" y="3634302"/>
              <a:ext cx="2100225" cy="332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002060"/>
                  </a:solidFill>
                </a:rPr>
                <a:t>User Ramp Down Phase</a:t>
              </a:r>
              <a:endParaRPr lang="en-IN" sz="1500" dirty="0">
                <a:solidFill>
                  <a:srgbClr val="002060"/>
                </a:solidFill>
              </a:endParaRPr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5D9C733C-7A9D-4638-841E-316E5A0FEB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2941" y="3810234"/>
              <a:ext cx="5057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D2B2A3C-BA60-4E1B-9CA2-F51BDE085C30}"/>
                </a:ext>
              </a:extLst>
            </p:cNvPr>
            <p:cNvSpPr txBox="1"/>
            <p:nvPr/>
          </p:nvSpPr>
          <p:spPr>
            <a:xfrm>
              <a:off x="108551" y="4079178"/>
              <a:ext cx="2999090" cy="47449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2060"/>
                  </a:solidFill>
                </a:rPr>
                <a:t>It takes about 7 minutes to ramp up all 200 users onto the system</a:t>
              </a:r>
              <a:endParaRPr lang="en-IN" sz="1200" dirty="0">
                <a:solidFill>
                  <a:srgbClr val="00206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6CA66B2-E8AF-4590-93D5-EA7B4D594DA0}"/>
                </a:ext>
              </a:extLst>
            </p:cNvPr>
            <p:cNvSpPr txBox="1"/>
            <p:nvPr/>
          </p:nvSpPr>
          <p:spPr>
            <a:xfrm>
              <a:off x="3563895" y="4080030"/>
              <a:ext cx="2232241" cy="47449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2060"/>
                  </a:solidFill>
                </a:rPr>
                <a:t>Test will run for 1 hour with 200 concurrent users</a:t>
              </a:r>
              <a:endParaRPr lang="en-IN" sz="1200" dirty="0">
                <a:solidFill>
                  <a:srgbClr val="002060"/>
                </a:solidFill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5A3478A-B446-46AF-B0D7-FFC0733A2E1F}"/>
                </a:ext>
              </a:extLst>
            </p:cNvPr>
            <p:cNvSpPr txBox="1"/>
            <p:nvPr/>
          </p:nvSpPr>
          <p:spPr>
            <a:xfrm>
              <a:off x="6114528" y="4079177"/>
              <a:ext cx="2657444" cy="47449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2060"/>
                  </a:solidFill>
                </a:rPr>
                <a:t>It takes about 7 minutes to ramp down all 200 users from the system</a:t>
              </a:r>
              <a:endParaRPr lang="en-IN" sz="1200" dirty="0">
                <a:solidFill>
                  <a:srgbClr val="002060"/>
                </a:solidFill>
              </a:endParaRPr>
            </a:p>
          </p:txBody>
        </p:sp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26F266D2-BBCC-42BB-839D-5DB94251E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9051" y="1133542"/>
              <a:ext cx="511249" cy="398601"/>
            </a:xfrm>
            <a:prstGeom prst="rect">
              <a:avLst/>
            </a:prstGeom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14D10A89-0966-4FA7-859F-6CF8B62E6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5159" y="1123086"/>
              <a:ext cx="511249" cy="398601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97CEBD90-A64C-406C-ADFF-A88216832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59825" y="1110195"/>
              <a:ext cx="511249" cy="3986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76298E-C043-4C4D-9EFC-764658018460}"/>
              </a:ext>
            </a:extLst>
          </p:cNvPr>
          <p:cNvSpPr txBox="1"/>
          <p:nvPr/>
        </p:nvSpPr>
        <p:spPr>
          <a:xfrm>
            <a:off x="1214386" y="1040018"/>
            <a:ext cx="9477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Below example illustrate how users will be ramping up on to the AUT when tester clicks on the start button</a:t>
            </a:r>
            <a:endParaRPr lang="en-IN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52BB2B-7A7F-4E72-9ECE-3B232026E7E6}"/>
              </a:ext>
            </a:extLst>
          </p:cNvPr>
          <p:cNvSpPr txBox="1"/>
          <p:nvPr/>
        </p:nvSpPr>
        <p:spPr>
          <a:xfrm>
            <a:off x="4094723" y="1926242"/>
            <a:ext cx="778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10 seconds</a:t>
            </a:r>
            <a:endParaRPr lang="en-IN" sz="1000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0B59FA5-4253-42D5-989F-B27C714B2010}"/>
              </a:ext>
            </a:extLst>
          </p:cNvPr>
          <p:cNvCxnSpPr/>
          <p:nvPr/>
        </p:nvCxnSpPr>
        <p:spPr>
          <a:xfrm rot="5400000" flipH="1" flipV="1">
            <a:off x="4508757" y="1945463"/>
            <a:ext cx="70367" cy="5554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9B7453CF-9511-4FE1-B437-198A0B4F8684}"/>
              </a:ext>
            </a:extLst>
          </p:cNvPr>
          <p:cNvCxnSpPr>
            <a:cxnSpLocks/>
          </p:cNvCxnSpPr>
          <p:nvPr/>
        </p:nvCxnSpPr>
        <p:spPr>
          <a:xfrm>
            <a:off x="7192687" y="2172463"/>
            <a:ext cx="404150" cy="1459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4212293-7AE0-4D2F-8053-7981A2C24C76}"/>
              </a:ext>
            </a:extLst>
          </p:cNvPr>
          <p:cNvSpPr txBox="1"/>
          <p:nvPr/>
        </p:nvSpPr>
        <p:spPr>
          <a:xfrm>
            <a:off x="9163011" y="2831962"/>
            <a:ext cx="778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10 seconds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00057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1222" y="231502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Test constraints</a:t>
            </a:r>
            <a:endParaRPr lang="en-US" sz="2800" dirty="0">
              <a:latin typeface="Calibri" charset="0"/>
            </a:endParaRPr>
          </a:p>
        </p:txBody>
      </p:sp>
      <p:sp>
        <p:nvSpPr>
          <p:cNvPr id="3" name="Text Box 921">
            <a:extLst>
              <a:ext uri="{FF2B5EF4-FFF2-40B4-BE49-F238E27FC236}">
                <a16:creationId xmlns:a16="http://schemas.microsoft.com/office/drawing/2014/main" id="{FA62701D-9A49-4B55-BA54-A377D9383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30" y="964765"/>
            <a:ext cx="11089232" cy="5014193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44450" bIns="44450">
            <a:spAutoFit/>
          </a:bodyPr>
          <a:lstStyle>
            <a:lvl1pPr marL="630238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0165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defTabSz="914400">
              <a:spcBef>
                <a:spcPct val="50000"/>
              </a:spcBef>
              <a:defRPr/>
            </a:pPr>
            <a:r>
              <a:rPr lang="en-US" altLang="en-US" sz="1400" b="1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Out Of Scope: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Any scenarios which were not mentioned in this doc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Test environment setup, creating test data and test accounts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Application performance / device hardware performance on any other devices other than what specified in slide no 7 </a:t>
            </a:r>
          </a:p>
          <a:p>
            <a:pPr algn="just" defTabSz="914400">
              <a:spcBef>
                <a:spcPct val="50000"/>
              </a:spcBef>
              <a:defRPr/>
            </a:pPr>
            <a:r>
              <a:rPr lang="en-US" altLang="en-US" sz="1400" b="1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Assumption: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Staging environment is dedicated for only Performance Testing exercise during the performance test window timeframe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Production logs verified for past 1 year and considered the peak hour usage as 1x load.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System functionalities are stable and working as expected to carry out the scripting and load testing smoothly.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ISOS to ensure the target systems are up and running during the entire performance test schedule.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If any system/environment outage happens in between the Performance Testing schedule then the respective outage time will get extended in the test schedule accordingly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Database backup/restore to be taken care by ISOS if required between different load tests</a:t>
            </a:r>
          </a:p>
          <a:p>
            <a:pPr algn="just" defTabSz="914400">
              <a:spcBef>
                <a:spcPct val="50000"/>
              </a:spcBef>
              <a:defRPr/>
            </a:pPr>
            <a:r>
              <a:rPr lang="en-US" altLang="en-US" sz="1400" b="1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Prerequisites: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Final and stable build to be pushed to staging at least a couple of days before the actual test executions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Required test data should be seeded to staging at least couple of days prior to test execution time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Required test accounts were created with required roles/types and ready for testing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Approval on workload model and performance test strategy</a:t>
            </a:r>
          </a:p>
          <a:p>
            <a:pPr lvl="1" algn="just" defTabSz="914400">
              <a:spcBef>
                <a:spcPct val="50000"/>
              </a:spcBef>
              <a:buFont typeface="Arial" panose="020B0604020202020204" pitchFamily="34" charset="0"/>
              <a:buAutoNum type="arabicParenR"/>
              <a:defRPr/>
            </a:pPr>
            <a:r>
              <a:rPr lang="en-US" altLang="en-US" sz="1200" kern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Mobile device should be handed over to Performance team at least couple of days prior to scripting starts</a:t>
            </a:r>
          </a:p>
        </p:txBody>
      </p:sp>
    </p:spTree>
    <p:extLst>
      <p:ext uri="{BB962C8B-B14F-4D97-AF65-F5344CB8AC3E}">
        <p14:creationId xmlns:p14="http://schemas.microsoft.com/office/powerpoint/2010/main" val="226175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95238" y="231502"/>
            <a:ext cx="8559800" cy="476250"/>
          </a:xfrm>
        </p:spPr>
        <p:txBody>
          <a:bodyPr>
            <a:noAutofit/>
          </a:bodyPr>
          <a:lstStyle/>
          <a:p>
            <a:r>
              <a:rPr lang="en-IN" altLang="en-US" sz="2800" dirty="0"/>
              <a:t>Contacts</a:t>
            </a:r>
            <a:endParaRPr lang="en-US" sz="2800" dirty="0">
              <a:latin typeface="Calibri" charset="0"/>
            </a:endParaRPr>
          </a:p>
        </p:txBody>
      </p:sp>
      <p:graphicFrame>
        <p:nvGraphicFramePr>
          <p:cNvPr id="4" name="Group 439">
            <a:extLst>
              <a:ext uri="{FF2B5EF4-FFF2-40B4-BE49-F238E27FC236}">
                <a16:creationId xmlns:a16="http://schemas.microsoft.com/office/drawing/2014/main" id="{39AED580-EF3B-4DD9-A92F-FEA2FC6759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669751"/>
              </p:ext>
            </p:extLst>
          </p:nvPr>
        </p:nvGraphicFramePr>
        <p:xfrm>
          <a:off x="755278" y="1051522"/>
          <a:ext cx="9577064" cy="4087169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002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Focal Name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494" marR="90494" marT="44464" marB="4446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Entity Belongs To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494" marR="90494" marT="44464" marB="4446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Email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494" marR="90494" marT="44464" marB="4446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085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Matthew Smyth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ISOS – Project Focal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Matthew.Smyth@internationalsos.com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55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Alexandra</a:t>
                      </a:r>
                      <a:endParaRPr lang="en-US" sz="140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ISOS - Project Focal (Scrum Master)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Alexandra.Finfer@internationalsos.com</a:t>
                      </a:r>
                      <a:r>
                        <a:rPr lang="it-IT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877083"/>
                  </a:ext>
                </a:extLst>
              </a:tr>
              <a:tr h="376755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i-FI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Kote Bipilli</a:t>
                      </a:r>
                      <a:endParaRPr lang="en-US" sz="140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– AVP (Global Delivery)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kote@cigniti.com</a:t>
                      </a:r>
                      <a:r>
                        <a:rPr lang="fi-FI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722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e-DE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Ajaynath Sunkara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(USA) Manager – Delivery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Ajaynath.Sunkara@cigniti.com</a:t>
                      </a:r>
                      <a:r>
                        <a:rPr lang="de-D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942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Murali Mohan Dudi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(India) Manager – Delivery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murali.dudi@cigniti.com</a:t>
                      </a:r>
                      <a:r>
                        <a:rPr kumimoji="0" lang="it-IT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814511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Ramalakshmana Rao V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(India) – Associate Director (Performance Testing)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Ramalakshmana.v@cigniti.com</a:t>
                      </a: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Santosh Balasubramani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(India) – Test Lead (Functional)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santosh.balasubramani@cigniti.com</a:t>
                      </a: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68553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Kavati Phaneendra Kumar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(India) – Test Lead (Performance)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phaneendra.kavati@cigniti.com</a:t>
                      </a:r>
                      <a:r>
                        <a:rPr kumimoji="0" lang="fi-FI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603576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Shiva Prasad Rao Shapelli</a:t>
                      </a: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Cigniti (India) – Sr Performance Tester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shivaprasad.shapelli@cigniti.com</a:t>
                      </a: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494" marR="90494" marT="44464" marB="4446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78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855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FC2CC-DB1A-466E-BDB4-5C73FE5D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528" y="2285631"/>
            <a:ext cx="3684675" cy="237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719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9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Cigniti_Master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8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7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9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Cigniti Corporate Overview_Nov 2012_Fi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oject Site Document" ma:contentTypeID="0x0101008A98423170284BEEB635F43C3CF4E98B00B76338051C828847B4B8B6BF09326A29" ma:contentTypeVersion="4" ma:contentTypeDescription="" ma:contentTypeScope="" ma:versionID="e0fc90a9a70e6be73a44fc345fe9de1b">
  <xsd:schema xmlns:xsd="http://www.w3.org/2001/XMLSchema" xmlns:xs="http://www.w3.org/2001/XMLSchema" xmlns:p="http://schemas.microsoft.com/office/2006/metadata/properties" xmlns:ns2="51A2C4CE-3547-428D-9DAB-C232ABADB454" xmlns:ns3="4b1f50a3-c859-4944-b89a-1d19c8900733" xmlns:ns4="51a2c4ce-3547-428d-9dab-c232abadb454" targetNamespace="http://schemas.microsoft.com/office/2006/metadata/properties" ma:root="true" ma:fieldsID="3bbf89bb2b0a715eba80808753c38c4e" ns2:_="" ns3:_="" ns4:_="">
    <xsd:import namespace="51A2C4CE-3547-428D-9DAB-C232ABADB454"/>
    <xsd:import namespace="4b1f50a3-c859-4944-b89a-1d19c8900733"/>
    <xsd:import namespace="51a2c4ce-3547-428d-9dab-c232abadb454"/>
    <xsd:element name="properties">
      <xsd:complexType>
        <xsd:sequence>
          <xsd:element name="documentManagement">
            <xsd:complexType>
              <xsd:all>
                <xsd:element ref="ns2:Owner" minOccurs="0"/>
                <xsd:element ref="ns2:Status" minOccurs="0"/>
                <xsd:element ref="ns2:RelatedItems" minOccurs="0"/>
                <xsd:element ref="ns3:SharedWithUsers" minOccurs="0"/>
                <xsd:element ref="ns3:SharedWithDetails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A2C4CE-3547-428D-9DAB-C232ABADB454" elementFormDefault="qualified">
    <xsd:import namespace="http://schemas.microsoft.com/office/2006/documentManagement/types"/>
    <xsd:import namespace="http://schemas.microsoft.com/office/infopath/2007/PartnerControls"/>
    <xsd:element name="Owner" ma:index="8" nillable="true" ma:displayName="Owner" ma:list="UserInfo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9" nillable="true" ma:displayName="Status" ma:default="Draft" ma:internalName="Status">
      <xsd:simpleType>
        <xsd:restriction base="dms:Choice">
          <xsd:enumeration value="Draft"/>
          <xsd:enumeration value="Ready For Review"/>
          <xsd:enumeration value="Final"/>
        </xsd:restriction>
      </xsd:simpleType>
    </xsd:element>
    <xsd:element name="RelatedItems" ma:index="10" nillable="true" ma:displayName="Related Items" ma:internalName="RelatedItems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1f50a3-c859-4944-b89a-1d19c890073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a2c4ce-3547-428d-9dab-c232abadb4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51A2C4CE-3547-428D-9DAB-C232ABADB454">
      <UserInfo>
        <DisplayName/>
        <AccountId xsi:nil="true"/>
        <AccountType/>
      </UserInfo>
    </Owner>
    <Status xmlns="51A2C4CE-3547-428D-9DAB-C232ABADB454">Draft</Status>
    <RelatedItems xmlns="51A2C4CE-3547-428D-9DAB-C232ABADB45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843755-3A31-4CB6-A3F6-CD04693A03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A2C4CE-3547-428D-9DAB-C232ABADB454"/>
    <ds:schemaRef ds:uri="4b1f50a3-c859-4944-b89a-1d19c8900733"/>
    <ds:schemaRef ds:uri="51a2c4ce-3547-428d-9dab-c232abadb4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6C1781-18F3-4580-BE90-4457AEA122E9}">
  <ds:schemaRefs>
    <ds:schemaRef ds:uri="4b1f50a3-c859-4944-b89a-1d19c890073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51A2C4CE-3547-428D-9DAB-C232ABADB454"/>
    <ds:schemaRef ds:uri="http://purl.org/dc/terms/"/>
    <ds:schemaRef ds:uri="51a2c4ce-3547-428d-9dab-c232abadb454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601DCDE-0160-463B-B229-61352FD5F2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Cigniti Corporate Overview_Nov 2012_Final.potx</Template>
  <TotalTime>62408</TotalTime>
  <Words>1871</Words>
  <Application>Microsoft Office PowerPoint</Application>
  <PresentationFormat>Custom</PresentationFormat>
  <Paragraphs>389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Calibri</vt:lpstr>
      <vt:lpstr>Wingdings</vt:lpstr>
      <vt:lpstr>Custom Design</vt:lpstr>
      <vt:lpstr>1_Custom Design</vt:lpstr>
      <vt:lpstr>6_Custom Design</vt:lpstr>
      <vt:lpstr>2_Custom Design</vt:lpstr>
      <vt:lpstr>9_Custom Design</vt:lpstr>
      <vt:lpstr>15_Custom Design</vt:lpstr>
      <vt:lpstr>1_Cigniti_Master_Template</vt:lpstr>
      <vt:lpstr>18_Custom Design</vt:lpstr>
      <vt:lpstr>17_Custom Design</vt:lpstr>
      <vt:lpstr>19_Custom Design</vt:lpstr>
      <vt:lpstr>1_Cigniti Corporate Overview_Nov 2012_Final</vt:lpstr>
      <vt:lpstr>Performance Test Strategy – Assistance Ver. 6.0.8</vt:lpstr>
      <vt:lpstr>Agenda</vt:lpstr>
      <vt:lpstr>Objectives</vt:lpstr>
      <vt:lpstr>Performance Test Scenarios</vt:lpstr>
      <vt:lpstr>Performance Test Results</vt:lpstr>
      <vt:lpstr>Performance Testing Approach</vt:lpstr>
      <vt:lpstr>Limitations To Testing</vt:lpstr>
      <vt:lpstr>Region Wise User Load Distribution</vt:lpstr>
      <vt:lpstr>Performance Test Harness- High Level Architecture</vt:lpstr>
      <vt:lpstr>User Load Ramp up Pattern</vt:lpstr>
      <vt:lpstr>Test constraints</vt:lpstr>
      <vt:lpstr>Contacts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Testing Proposal for Globarena</dc:title>
  <dc:subject>Performance Testing Proposal for Globarena</dc:subject>
  <dc:creator>Srikanth Kasula</dc:creator>
  <cp:lastModifiedBy>Abdul Khadar Jilani Shaik</cp:lastModifiedBy>
  <cp:revision>1418</cp:revision>
  <dcterms:created xsi:type="dcterms:W3CDTF">2012-11-19T08:09:14Z</dcterms:created>
  <dcterms:modified xsi:type="dcterms:W3CDTF">2020-05-14T13:20:13Z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0x0101008A98423170284BEEB635F43C3CF4E98B00B76338051C828847B4B8B6BF09326A29</vt:lpwstr>
  </property>
  <property fmtid="{D5CDD505-2E9C-101B-9397-08002B2CF9AE}" pid="3" name="Order">
    <vt:r8>2100</vt:r8>
  </property>
  <property fmtid="{D5CDD505-2E9C-101B-9397-08002B2CF9AE}" pid="4" name="_CopySource">
    <vt:lpwstr>https://cigniti.sharepoint.com/Shared Documents/Cigniti Sample Mobile Performance Testing Report - Amazon India.pptx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TemplateUrl">
    <vt:lpwstr/>
  </property>
</Properties>
</file>